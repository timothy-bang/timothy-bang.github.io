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2_56F6F212.xml" ContentType="application/vnd.ms-powerpoint.comments+xml"/>
  <Override PartName="/ppt/notesSlides/notesSlide3.xml" ContentType="application/vnd.openxmlformats-officedocument.presentationml.notesSlide+xml"/>
  <Override PartName="/ppt/comments/modernComment_108_789B3337.xml" ContentType="application/vnd.ms-powerpoint.comments+xml"/>
  <Override PartName="/ppt/comments/modernComment_109_BDC038A4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69" r:id="rId4"/>
    <p:sldId id="258" r:id="rId5"/>
    <p:sldId id="260" r:id="rId6"/>
    <p:sldId id="261" r:id="rId7"/>
    <p:sldId id="270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F1691C-FC46-C7DF-F22C-39015A38CC17}" name="Guest User" initials="GU" userId="S::urn:spo:tenantanon#b92d2b23-4d35-4470-93ff-69aca6632ffe::" providerId="AD"/>
  <p188:author id="{65DC154B-5C53-3EBC-592E-FB03E64A1414}" name="Nate Desruisseaux" initials="ND" userId="S::nkd36@scarletmail.rutgers.edu::57372466-15df-4e5c-a111-f7e7095d0fa8" providerId="AD"/>
  <p188:author id="{EF679959-E443-4E97-B580-8EDEC737B384}" name="Amelia Youssef" initials="AY" userId="S::aay29@scarletmail.rutgers.edu::49e66315-cbfa-4678-b27b-3d337a37248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81ED1-E386-6CA2-5617-5AA65D7DB903}" v="4" dt="2025-11-12T16:12:47.091"/>
    <p1510:client id="{2F5F2231-790E-3F12-5E1D-BB55078F1B86}" v="10" dt="2025-11-11T00:52:53"/>
    <p1510:client id="{50C0EA09-9DC7-1A9B-2102-53A6DC743145}" v="574" dt="2025-11-10T19:02:33.084"/>
    <p1510:client id="{70389343-A292-4925-BCB0-152608A7DD40}" v="21" dt="2025-11-10T16:30:48.392"/>
    <p1510:client id="{92A72CC8-D2D5-A592-1B1D-A740682CFFDB}" v="22" dt="2025-11-12T16:14:52.857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2_56F6F2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775961C-28EE-47FA-A483-1F7AC5F694E0}" authorId="{EF679959-E443-4E97-B580-8EDEC737B384}" created="2025-11-05T22:25:29.732">
    <pc:sldMkLst xmlns:pc="http://schemas.microsoft.com/office/powerpoint/2013/main/command">
      <pc:docMk/>
      <pc:sldMk cId="1459024402" sldId="258"/>
    </pc:sldMkLst>
    <p188:txBody>
      <a:bodyPr/>
      <a:lstStyle/>
      <a:p>
        <a:r>
          <a:rPr lang="en-US"/>
          <a:t>I can do this one </a:t>
        </a:r>
      </a:p>
    </p188:txBody>
  </p188:cm>
</p188:cmLst>
</file>

<file path=ppt/comments/modernComment_108_789B33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DA6492-CFCE-4DDC-9E19-5D21EC4CD2A4}" authorId="{65DC154B-5C53-3EBC-592E-FB03E64A1414}" created="2025-11-09T06:24:01.797">
    <pc:sldMkLst xmlns:pc="http://schemas.microsoft.com/office/powerpoint/2013/main/command">
      <pc:docMk/>
      <pc:sldMk cId="2023437111" sldId="264"/>
    </pc:sldMkLst>
    <p188:txBody>
      <a:bodyPr/>
      <a:lstStyle/>
      <a:p>
        <a:r>
          <a:rPr lang="en-US"/>
          <a:t>I already finished this</a:t>
        </a:r>
      </a:p>
    </p188:txBody>
  </p188:cm>
</p188:cmLst>
</file>

<file path=ppt/comments/modernComment_109_BDC038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A0DF9BE-4BCD-417D-A480-CD85F06EEFED}" authorId="{65DC154B-5C53-3EBC-592E-FB03E64A1414}" created="2025-11-09T06:24:13.532">
    <pc:sldMkLst xmlns:pc="http://schemas.microsoft.com/office/powerpoint/2013/main/command">
      <pc:docMk/>
      <pc:sldMk cId="3183491236" sldId="265"/>
    </pc:sldMkLst>
    <p188:txBody>
      <a:bodyPr/>
      <a:lstStyle/>
      <a:p>
        <a:r>
          <a:rPr lang="en-US"/>
          <a:t>all ready finished this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#1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E053D8-36B4-4C02-B575-BBE4B2AFBD95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7C98333-0FC3-4C43-AEB9-2D5026AC61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1: Ignite the Concept (Jan – Mar 2026)  Objective: Finalize product design and build early buzz. Lead Teams: Product Development, Creative Marketing Team, Influencer Relations.</a:t>
          </a:r>
        </a:p>
      </dgm:t>
    </dgm:pt>
    <dgm:pt modelId="{3AF20836-642F-4E72-963D-EED0FB6973F3}" type="parTrans" cxnId="{6460DABC-F3D7-4AFF-8A31-FF7521F6FE62}">
      <dgm:prSet/>
      <dgm:spPr/>
      <dgm:t>
        <a:bodyPr/>
        <a:lstStyle/>
        <a:p>
          <a:endParaRPr lang="en-US"/>
        </a:p>
      </dgm:t>
    </dgm:pt>
    <dgm:pt modelId="{7BBDB304-D10F-4E39-9F9C-0D892D8C5C51}" type="sibTrans" cxnId="{6460DABC-F3D7-4AFF-8A31-FF7521F6FE62}">
      <dgm:prSet/>
      <dgm:spPr/>
      <dgm:t>
        <a:bodyPr/>
        <a:lstStyle/>
        <a:p>
          <a:endParaRPr lang="en-US"/>
        </a:p>
      </dgm:t>
    </dgm:pt>
    <dgm:pt modelId="{CC8A0587-8B96-4413-BED2-DA58D58D5A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2: Build the Hype (Apr – Jun 2026) Objective: Create anticipation and capture pre-orders. Lead Teams: PR Team, E-commerce Team, Sales Partnerships</a:t>
          </a:r>
        </a:p>
      </dgm:t>
    </dgm:pt>
    <dgm:pt modelId="{662BED46-769A-448F-9751-57A5D9E41681}" type="parTrans" cxnId="{270EEE06-9BE9-4F89-844F-048B7E471C0B}">
      <dgm:prSet/>
      <dgm:spPr/>
      <dgm:t>
        <a:bodyPr/>
        <a:lstStyle/>
        <a:p>
          <a:endParaRPr lang="en-US"/>
        </a:p>
      </dgm:t>
    </dgm:pt>
    <dgm:pt modelId="{82575DF3-A7FD-46F8-A954-E4F90363F028}" type="sibTrans" cxnId="{270EEE06-9BE9-4F89-844F-048B7E471C0B}">
      <dgm:prSet/>
      <dgm:spPr/>
      <dgm:t>
        <a:bodyPr/>
        <a:lstStyle/>
        <a:p>
          <a:endParaRPr lang="en-US"/>
        </a:p>
      </dgm:t>
    </dgm:pt>
    <dgm:pt modelId="{C6FA5F96-D7E8-4535-8A3E-A3EAC2D612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3: Grand Launch (Jul – Sept 2026) Objective: Official product launch and nationwide rollout.  Lead Teams: PR Team, Event Marketing, Social Media, Retail Merchandising.</a:t>
          </a:r>
        </a:p>
      </dgm:t>
    </dgm:pt>
    <dgm:pt modelId="{604EA1DC-A2DC-4F74-AD33-F9CF05F6148D}" type="parTrans" cxnId="{EC4195E3-799F-44E3-AFEC-E2867C9F9093}">
      <dgm:prSet/>
      <dgm:spPr/>
      <dgm:t>
        <a:bodyPr/>
        <a:lstStyle/>
        <a:p>
          <a:endParaRPr lang="en-US"/>
        </a:p>
      </dgm:t>
    </dgm:pt>
    <dgm:pt modelId="{B90BCC78-CD8B-4FD6-B26F-B1F838EE995F}" type="sibTrans" cxnId="{EC4195E3-799F-44E3-AFEC-E2867C9F9093}">
      <dgm:prSet/>
      <dgm:spPr/>
      <dgm:t>
        <a:bodyPr/>
        <a:lstStyle/>
        <a:p>
          <a:endParaRPr lang="en-US"/>
        </a:p>
      </dgm:t>
    </dgm:pt>
    <dgm:pt modelId="{AC0BA8C0-9166-46B2-920F-6F4AD067BE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4: Sustain &amp; Scale (Oct – Dec 2026) Objective: Retain momentum and gather feedback. Lead Teams: Customer Insights, Product Design, International Sales.</a:t>
          </a:r>
        </a:p>
      </dgm:t>
    </dgm:pt>
    <dgm:pt modelId="{13046906-DA55-495B-A29B-8D0D9AA9FCA2}" type="parTrans" cxnId="{FF6172AD-E206-4E53-AA65-157DF55DC3F2}">
      <dgm:prSet/>
      <dgm:spPr/>
      <dgm:t>
        <a:bodyPr/>
        <a:lstStyle/>
        <a:p>
          <a:endParaRPr lang="en-US"/>
        </a:p>
      </dgm:t>
    </dgm:pt>
    <dgm:pt modelId="{E5DE6195-CCCB-4F1C-90D8-F11A85996DBA}" type="sibTrans" cxnId="{FF6172AD-E206-4E53-AA65-157DF55DC3F2}">
      <dgm:prSet/>
      <dgm:spPr/>
      <dgm:t>
        <a:bodyPr/>
        <a:lstStyle/>
        <a:p>
          <a:endParaRPr lang="en-US"/>
        </a:p>
      </dgm:t>
    </dgm:pt>
    <dgm:pt modelId="{819B2C21-6414-4705-B614-E1ECF6052F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Phase 5: Innovate Forward (Jan 2027+) Objective: Plan future product line and continuous improvement. Lead Teams: Research and Development and User Experience Team</a:t>
          </a:r>
        </a:p>
      </dgm:t>
    </dgm:pt>
    <dgm:pt modelId="{C496A08F-2E5F-4915-8465-6D55FA19CCF8}" type="parTrans" cxnId="{D1CDEB1B-3FF4-4377-A23B-86EE1AA43D94}">
      <dgm:prSet/>
      <dgm:spPr/>
      <dgm:t>
        <a:bodyPr/>
        <a:lstStyle/>
        <a:p>
          <a:endParaRPr lang="en-US"/>
        </a:p>
      </dgm:t>
    </dgm:pt>
    <dgm:pt modelId="{1203B069-6200-4DA0-A819-0CDB6E469444}" type="sibTrans" cxnId="{D1CDEB1B-3FF4-4377-A23B-86EE1AA43D94}">
      <dgm:prSet/>
      <dgm:spPr/>
      <dgm:t>
        <a:bodyPr/>
        <a:lstStyle/>
        <a:p>
          <a:endParaRPr lang="en-US"/>
        </a:p>
      </dgm:t>
    </dgm:pt>
    <dgm:pt modelId="{3B4E7665-9EC8-4713-94B3-2FC57CCBC540}" type="pres">
      <dgm:prSet presAssocID="{48E053D8-36B4-4C02-B575-BBE4B2AFBD95}" presName="root" presStyleCnt="0">
        <dgm:presLayoutVars>
          <dgm:dir/>
          <dgm:resizeHandles val="exact"/>
        </dgm:presLayoutVars>
      </dgm:prSet>
      <dgm:spPr/>
    </dgm:pt>
    <dgm:pt modelId="{F29A4840-0BEF-446E-9CD6-E0C5429CB8EB}" type="pres">
      <dgm:prSet presAssocID="{E7C98333-0FC3-4C43-AEB9-2D5026AC6152}" presName="compNode" presStyleCnt="0"/>
      <dgm:spPr/>
    </dgm:pt>
    <dgm:pt modelId="{F33D65CD-ACE8-4359-B7B7-FDC914CF8748}" type="pres">
      <dgm:prSet presAssocID="{E7C98333-0FC3-4C43-AEB9-2D5026AC6152}" presName="bgRect" presStyleLbl="bgShp" presStyleIdx="0" presStyleCnt="5"/>
      <dgm:spPr/>
    </dgm:pt>
    <dgm:pt modelId="{859CA9D1-EE9C-41B4-AA1D-5032E3FCC7CF}" type="pres">
      <dgm:prSet presAssocID="{E7C98333-0FC3-4C43-AEB9-2D5026AC615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rkler"/>
        </a:ext>
      </dgm:extLst>
    </dgm:pt>
    <dgm:pt modelId="{D6DDA465-D8F4-4A5C-8FA8-A4B7C3A1F0F0}" type="pres">
      <dgm:prSet presAssocID="{E7C98333-0FC3-4C43-AEB9-2D5026AC6152}" presName="spaceRect" presStyleCnt="0"/>
      <dgm:spPr/>
    </dgm:pt>
    <dgm:pt modelId="{4740A160-654D-4DB7-A55A-020C7721005F}" type="pres">
      <dgm:prSet presAssocID="{E7C98333-0FC3-4C43-AEB9-2D5026AC6152}" presName="parTx" presStyleLbl="revTx" presStyleIdx="0" presStyleCnt="5">
        <dgm:presLayoutVars>
          <dgm:chMax val="0"/>
          <dgm:chPref val="0"/>
        </dgm:presLayoutVars>
      </dgm:prSet>
      <dgm:spPr/>
    </dgm:pt>
    <dgm:pt modelId="{F15473D3-DD36-4041-BD9C-973B245EF1A4}" type="pres">
      <dgm:prSet presAssocID="{7BBDB304-D10F-4E39-9F9C-0D892D8C5C51}" presName="sibTrans" presStyleCnt="0"/>
      <dgm:spPr/>
    </dgm:pt>
    <dgm:pt modelId="{22AA38B3-1B5B-4F92-B46B-118B3E939B5B}" type="pres">
      <dgm:prSet presAssocID="{CC8A0587-8B96-4413-BED2-DA58D58D5AE8}" presName="compNode" presStyleCnt="0"/>
      <dgm:spPr/>
    </dgm:pt>
    <dgm:pt modelId="{0561338E-64C7-4572-9B1D-F3A908A7ABA9}" type="pres">
      <dgm:prSet presAssocID="{CC8A0587-8B96-4413-BED2-DA58D58D5AE8}" presName="bgRect" presStyleLbl="bgShp" presStyleIdx="1" presStyleCnt="5"/>
      <dgm:spPr/>
    </dgm:pt>
    <dgm:pt modelId="{DBF0E3BC-7760-4B9D-AA3D-EBDCF36A8FD3}" type="pres">
      <dgm:prSet presAssocID="{CC8A0587-8B96-4413-BED2-DA58D58D5AE8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 Animal"/>
        </a:ext>
      </dgm:extLst>
    </dgm:pt>
    <dgm:pt modelId="{9029EA1E-1A1F-4878-ADEC-F9A896798388}" type="pres">
      <dgm:prSet presAssocID="{CC8A0587-8B96-4413-BED2-DA58D58D5AE8}" presName="spaceRect" presStyleCnt="0"/>
      <dgm:spPr/>
    </dgm:pt>
    <dgm:pt modelId="{322C00E6-E77A-46AE-8DC5-17462F3B1C39}" type="pres">
      <dgm:prSet presAssocID="{CC8A0587-8B96-4413-BED2-DA58D58D5AE8}" presName="parTx" presStyleLbl="revTx" presStyleIdx="1" presStyleCnt="5">
        <dgm:presLayoutVars>
          <dgm:chMax val="0"/>
          <dgm:chPref val="0"/>
        </dgm:presLayoutVars>
      </dgm:prSet>
      <dgm:spPr/>
    </dgm:pt>
    <dgm:pt modelId="{2EFE27F4-5B1C-4759-A2A4-0332CD066F22}" type="pres">
      <dgm:prSet presAssocID="{82575DF3-A7FD-46F8-A954-E4F90363F028}" presName="sibTrans" presStyleCnt="0"/>
      <dgm:spPr/>
    </dgm:pt>
    <dgm:pt modelId="{544DD9DD-13E2-4779-AF3A-F49B17B17722}" type="pres">
      <dgm:prSet presAssocID="{C6FA5F96-D7E8-4535-8A3E-A3EAC2D612CA}" presName="compNode" presStyleCnt="0"/>
      <dgm:spPr/>
    </dgm:pt>
    <dgm:pt modelId="{E6FF6E45-76CF-4A54-B6D7-09D7D94D2D6C}" type="pres">
      <dgm:prSet presAssocID="{C6FA5F96-D7E8-4535-8A3E-A3EAC2D612CA}" presName="bgRect" presStyleLbl="bgShp" presStyleIdx="2" presStyleCnt="5"/>
      <dgm:spPr/>
    </dgm:pt>
    <dgm:pt modelId="{2F0557D8-63B7-46A7-8B08-5E8F1427586B}" type="pres">
      <dgm:prSet presAssocID="{C6FA5F96-D7E8-4535-8A3E-A3EAC2D612C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t Air Balloon"/>
        </a:ext>
      </dgm:extLst>
    </dgm:pt>
    <dgm:pt modelId="{613DD0A0-B765-47C9-9AB9-9248F1DCE347}" type="pres">
      <dgm:prSet presAssocID="{C6FA5F96-D7E8-4535-8A3E-A3EAC2D612CA}" presName="spaceRect" presStyleCnt="0"/>
      <dgm:spPr/>
    </dgm:pt>
    <dgm:pt modelId="{060E0BDF-4F7D-4AE2-B535-E2FEBBB43A58}" type="pres">
      <dgm:prSet presAssocID="{C6FA5F96-D7E8-4535-8A3E-A3EAC2D612CA}" presName="parTx" presStyleLbl="revTx" presStyleIdx="2" presStyleCnt="5">
        <dgm:presLayoutVars>
          <dgm:chMax val="0"/>
          <dgm:chPref val="0"/>
        </dgm:presLayoutVars>
      </dgm:prSet>
      <dgm:spPr/>
    </dgm:pt>
    <dgm:pt modelId="{F5B359D9-5FA1-4A04-985D-EA433834594A}" type="pres">
      <dgm:prSet presAssocID="{B90BCC78-CD8B-4FD6-B26F-B1F838EE995F}" presName="sibTrans" presStyleCnt="0"/>
      <dgm:spPr/>
    </dgm:pt>
    <dgm:pt modelId="{8D52D221-C721-48D4-BBE6-7C8C13C54201}" type="pres">
      <dgm:prSet presAssocID="{AC0BA8C0-9166-46B2-920F-6F4AD067BE1F}" presName="compNode" presStyleCnt="0"/>
      <dgm:spPr/>
    </dgm:pt>
    <dgm:pt modelId="{A7159966-B7B6-4109-A43E-1B08D3BEE751}" type="pres">
      <dgm:prSet presAssocID="{AC0BA8C0-9166-46B2-920F-6F4AD067BE1F}" presName="bgRect" presStyleLbl="bgShp" presStyleIdx="3" presStyleCnt="5"/>
      <dgm:spPr/>
    </dgm:pt>
    <dgm:pt modelId="{4AB8F0A6-CB39-4987-9C8E-7AD48FC8DD6D}" type="pres">
      <dgm:prSet presAssocID="{AC0BA8C0-9166-46B2-920F-6F4AD067BE1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BF1D7FB2-E68F-4061-9B41-1C5617E94AB4}" type="pres">
      <dgm:prSet presAssocID="{AC0BA8C0-9166-46B2-920F-6F4AD067BE1F}" presName="spaceRect" presStyleCnt="0"/>
      <dgm:spPr/>
    </dgm:pt>
    <dgm:pt modelId="{F2CCFCBF-B5C2-47EC-A1E4-DE1B0D1DAEE2}" type="pres">
      <dgm:prSet presAssocID="{AC0BA8C0-9166-46B2-920F-6F4AD067BE1F}" presName="parTx" presStyleLbl="revTx" presStyleIdx="3" presStyleCnt="5">
        <dgm:presLayoutVars>
          <dgm:chMax val="0"/>
          <dgm:chPref val="0"/>
        </dgm:presLayoutVars>
      </dgm:prSet>
      <dgm:spPr/>
    </dgm:pt>
    <dgm:pt modelId="{02604089-C908-40F8-A7B4-8CD90574B9EE}" type="pres">
      <dgm:prSet presAssocID="{E5DE6195-CCCB-4F1C-90D8-F11A85996DBA}" presName="sibTrans" presStyleCnt="0"/>
      <dgm:spPr/>
    </dgm:pt>
    <dgm:pt modelId="{CE178622-DAA6-4BC9-9E7C-2ABDCBE4694B}" type="pres">
      <dgm:prSet presAssocID="{819B2C21-6414-4705-B614-E1ECF6052FDE}" presName="compNode" presStyleCnt="0"/>
      <dgm:spPr/>
    </dgm:pt>
    <dgm:pt modelId="{7E8FCDB7-2BC1-424D-B5D9-9724CD1CCBDE}" type="pres">
      <dgm:prSet presAssocID="{819B2C21-6414-4705-B614-E1ECF6052FDE}" presName="bgRect" presStyleLbl="bgShp" presStyleIdx="4" presStyleCnt="5"/>
      <dgm:spPr/>
    </dgm:pt>
    <dgm:pt modelId="{A1E7F0AD-AD68-4808-8D57-9D9CB7B13A05}" type="pres">
      <dgm:prSet presAssocID="{819B2C21-6414-4705-B614-E1ECF6052FD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791BC714-AA16-4D95-B0E4-593F8CDC3064}" type="pres">
      <dgm:prSet presAssocID="{819B2C21-6414-4705-B614-E1ECF6052FDE}" presName="spaceRect" presStyleCnt="0"/>
      <dgm:spPr/>
    </dgm:pt>
    <dgm:pt modelId="{6903EF8B-5BED-43F8-997E-6FAFD736951D}" type="pres">
      <dgm:prSet presAssocID="{819B2C21-6414-4705-B614-E1ECF6052FD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70EEE06-9BE9-4F89-844F-048B7E471C0B}" srcId="{48E053D8-36B4-4C02-B575-BBE4B2AFBD95}" destId="{CC8A0587-8B96-4413-BED2-DA58D58D5AE8}" srcOrd="1" destOrd="0" parTransId="{662BED46-769A-448F-9751-57A5D9E41681}" sibTransId="{82575DF3-A7FD-46F8-A954-E4F90363F028}"/>
    <dgm:cxn modelId="{20B6B20B-75E2-4DD6-8BCF-20C4FD923DFF}" type="presOf" srcId="{AC0BA8C0-9166-46B2-920F-6F4AD067BE1F}" destId="{F2CCFCBF-B5C2-47EC-A1E4-DE1B0D1DAEE2}" srcOrd="0" destOrd="0" presId="urn:microsoft.com/office/officeart/2018/2/layout/IconVerticalSolidList"/>
    <dgm:cxn modelId="{0B801718-2D4C-4C1F-834C-1A2CF4049544}" type="presOf" srcId="{C6FA5F96-D7E8-4535-8A3E-A3EAC2D612CA}" destId="{060E0BDF-4F7D-4AE2-B535-E2FEBBB43A58}" srcOrd="0" destOrd="0" presId="urn:microsoft.com/office/officeart/2018/2/layout/IconVerticalSolidList"/>
    <dgm:cxn modelId="{D1CDEB1B-3FF4-4377-A23B-86EE1AA43D94}" srcId="{48E053D8-36B4-4C02-B575-BBE4B2AFBD95}" destId="{819B2C21-6414-4705-B614-E1ECF6052FDE}" srcOrd="4" destOrd="0" parTransId="{C496A08F-2E5F-4915-8465-6D55FA19CCF8}" sibTransId="{1203B069-6200-4DA0-A819-0CDB6E469444}"/>
    <dgm:cxn modelId="{B17DD036-FB3A-410C-8820-280538CEFBD6}" type="presOf" srcId="{CC8A0587-8B96-4413-BED2-DA58D58D5AE8}" destId="{322C00E6-E77A-46AE-8DC5-17462F3B1C39}" srcOrd="0" destOrd="0" presId="urn:microsoft.com/office/officeart/2018/2/layout/IconVerticalSolidList"/>
    <dgm:cxn modelId="{87654444-0CDE-4439-88E9-C2BB46A0499E}" type="presOf" srcId="{819B2C21-6414-4705-B614-E1ECF6052FDE}" destId="{6903EF8B-5BED-43F8-997E-6FAFD736951D}" srcOrd="0" destOrd="0" presId="urn:microsoft.com/office/officeart/2018/2/layout/IconVerticalSolidList"/>
    <dgm:cxn modelId="{5B9F6580-1672-4945-9FA8-35292DB42540}" type="presOf" srcId="{E7C98333-0FC3-4C43-AEB9-2D5026AC6152}" destId="{4740A160-654D-4DB7-A55A-020C7721005F}" srcOrd="0" destOrd="0" presId="urn:microsoft.com/office/officeart/2018/2/layout/IconVerticalSolidList"/>
    <dgm:cxn modelId="{FF6172AD-E206-4E53-AA65-157DF55DC3F2}" srcId="{48E053D8-36B4-4C02-B575-BBE4B2AFBD95}" destId="{AC0BA8C0-9166-46B2-920F-6F4AD067BE1F}" srcOrd="3" destOrd="0" parTransId="{13046906-DA55-495B-A29B-8D0D9AA9FCA2}" sibTransId="{E5DE6195-CCCB-4F1C-90D8-F11A85996DBA}"/>
    <dgm:cxn modelId="{6460DABC-F3D7-4AFF-8A31-FF7521F6FE62}" srcId="{48E053D8-36B4-4C02-B575-BBE4B2AFBD95}" destId="{E7C98333-0FC3-4C43-AEB9-2D5026AC6152}" srcOrd="0" destOrd="0" parTransId="{3AF20836-642F-4E72-963D-EED0FB6973F3}" sibTransId="{7BBDB304-D10F-4E39-9F9C-0D892D8C5C51}"/>
    <dgm:cxn modelId="{5A456AD0-8E86-4012-AF72-B82E51AF0B6F}" type="presOf" srcId="{48E053D8-36B4-4C02-B575-BBE4B2AFBD95}" destId="{3B4E7665-9EC8-4713-94B3-2FC57CCBC540}" srcOrd="0" destOrd="0" presId="urn:microsoft.com/office/officeart/2018/2/layout/IconVerticalSolidList"/>
    <dgm:cxn modelId="{EC4195E3-799F-44E3-AFEC-E2867C9F9093}" srcId="{48E053D8-36B4-4C02-B575-BBE4B2AFBD95}" destId="{C6FA5F96-D7E8-4535-8A3E-A3EAC2D612CA}" srcOrd="2" destOrd="0" parTransId="{604EA1DC-A2DC-4F74-AD33-F9CF05F6148D}" sibTransId="{B90BCC78-CD8B-4FD6-B26F-B1F838EE995F}"/>
    <dgm:cxn modelId="{F2962941-B474-42E1-B871-A1C5DB6004D3}" type="presParOf" srcId="{3B4E7665-9EC8-4713-94B3-2FC57CCBC540}" destId="{F29A4840-0BEF-446E-9CD6-E0C5429CB8EB}" srcOrd="0" destOrd="0" presId="urn:microsoft.com/office/officeart/2018/2/layout/IconVerticalSolidList"/>
    <dgm:cxn modelId="{77F44AF5-58F4-4B67-AEBB-A6B6BB7BCA1C}" type="presParOf" srcId="{F29A4840-0BEF-446E-9CD6-E0C5429CB8EB}" destId="{F33D65CD-ACE8-4359-B7B7-FDC914CF8748}" srcOrd="0" destOrd="0" presId="urn:microsoft.com/office/officeart/2018/2/layout/IconVerticalSolidList"/>
    <dgm:cxn modelId="{EBC48D70-6B53-49F6-8973-9083F4932E45}" type="presParOf" srcId="{F29A4840-0BEF-446E-9CD6-E0C5429CB8EB}" destId="{859CA9D1-EE9C-41B4-AA1D-5032E3FCC7CF}" srcOrd="1" destOrd="0" presId="urn:microsoft.com/office/officeart/2018/2/layout/IconVerticalSolidList"/>
    <dgm:cxn modelId="{56F39ACE-1B71-4A9E-AF29-722EC3FFAE99}" type="presParOf" srcId="{F29A4840-0BEF-446E-9CD6-E0C5429CB8EB}" destId="{D6DDA465-D8F4-4A5C-8FA8-A4B7C3A1F0F0}" srcOrd="2" destOrd="0" presId="urn:microsoft.com/office/officeart/2018/2/layout/IconVerticalSolidList"/>
    <dgm:cxn modelId="{D78A926C-B785-4599-AE8F-F2A08B2CDD2C}" type="presParOf" srcId="{F29A4840-0BEF-446E-9CD6-E0C5429CB8EB}" destId="{4740A160-654D-4DB7-A55A-020C7721005F}" srcOrd="3" destOrd="0" presId="urn:microsoft.com/office/officeart/2018/2/layout/IconVerticalSolidList"/>
    <dgm:cxn modelId="{EDDA67B7-BABC-4DA2-A71B-0A00005B7069}" type="presParOf" srcId="{3B4E7665-9EC8-4713-94B3-2FC57CCBC540}" destId="{F15473D3-DD36-4041-BD9C-973B245EF1A4}" srcOrd="1" destOrd="0" presId="urn:microsoft.com/office/officeart/2018/2/layout/IconVerticalSolidList"/>
    <dgm:cxn modelId="{AD254F0F-6FA9-481F-8237-B70AC27D5DF3}" type="presParOf" srcId="{3B4E7665-9EC8-4713-94B3-2FC57CCBC540}" destId="{22AA38B3-1B5B-4F92-B46B-118B3E939B5B}" srcOrd="2" destOrd="0" presId="urn:microsoft.com/office/officeart/2018/2/layout/IconVerticalSolidList"/>
    <dgm:cxn modelId="{4A9A470D-FA71-48C1-8CEB-74C37EFDE39A}" type="presParOf" srcId="{22AA38B3-1B5B-4F92-B46B-118B3E939B5B}" destId="{0561338E-64C7-4572-9B1D-F3A908A7ABA9}" srcOrd="0" destOrd="0" presId="urn:microsoft.com/office/officeart/2018/2/layout/IconVerticalSolidList"/>
    <dgm:cxn modelId="{0FEFEDA5-EC3D-49AC-BBD7-01EFDC8131F7}" type="presParOf" srcId="{22AA38B3-1B5B-4F92-B46B-118B3E939B5B}" destId="{DBF0E3BC-7760-4B9D-AA3D-EBDCF36A8FD3}" srcOrd="1" destOrd="0" presId="urn:microsoft.com/office/officeart/2018/2/layout/IconVerticalSolidList"/>
    <dgm:cxn modelId="{8548E894-A520-4030-A46C-312BD7D3BA17}" type="presParOf" srcId="{22AA38B3-1B5B-4F92-B46B-118B3E939B5B}" destId="{9029EA1E-1A1F-4878-ADEC-F9A896798388}" srcOrd="2" destOrd="0" presId="urn:microsoft.com/office/officeart/2018/2/layout/IconVerticalSolidList"/>
    <dgm:cxn modelId="{1E6E12DB-5164-4212-9DF8-98261DB5A84F}" type="presParOf" srcId="{22AA38B3-1B5B-4F92-B46B-118B3E939B5B}" destId="{322C00E6-E77A-46AE-8DC5-17462F3B1C39}" srcOrd="3" destOrd="0" presId="urn:microsoft.com/office/officeart/2018/2/layout/IconVerticalSolidList"/>
    <dgm:cxn modelId="{81B183C7-E8CE-4F8C-BB2F-3488C1741F67}" type="presParOf" srcId="{3B4E7665-9EC8-4713-94B3-2FC57CCBC540}" destId="{2EFE27F4-5B1C-4759-A2A4-0332CD066F22}" srcOrd="3" destOrd="0" presId="urn:microsoft.com/office/officeart/2018/2/layout/IconVerticalSolidList"/>
    <dgm:cxn modelId="{32B5DE80-CE0D-48D5-ADE5-0D019AD77D54}" type="presParOf" srcId="{3B4E7665-9EC8-4713-94B3-2FC57CCBC540}" destId="{544DD9DD-13E2-4779-AF3A-F49B17B17722}" srcOrd="4" destOrd="0" presId="urn:microsoft.com/office/officeart/2018/2/layout/IconVerticalSolidList"/>
    <dgm:cxn modelId="{D3B9D2D7-1D25-407D-A0DD-CA9EAFC15750}" type="presParOf" srcId="{544DD9DD-13E2-4779-AF3A-F49B17B17722}" destId="{E6FF6E45-76CF-4A54-B6D7-09D7D94D2D6C}" srcOrd="0" destOrd="0" presId="urn:microsoft.com/office/officeart/2018/2/layout/IconVerticalSolidList"/>
    <dgm:cxn modelId="{54501864-4A25-4F96-B81C-2E1BCB37EF70}" type="presParOf" srcId="{544DD9DD-13E2-4779-AF3A-F49B17B17722}" destId="{2F0557D8-63B7-46A7-8B08-5E8F1427586B}" srcOrd="1" destOrd="0" presId="urn:microsoft.com/office/officeart/2018/2/layout/IconVerticalSolidList"/>
    <dgm:cxn modelId="{454FBA47-350F-4AA8-BD67-10FCDACC60C6}" type="presParOf" srcId="{544DD9DD-13E2-4779-AF3A-F49B17B17722}" destId="{613DD0A0-B765-47C9-9AB9-9248F1DCE347}" srcOrd="2" destOrd="0" presId="urn:microsoft.com/office/officeart/2018/2/layout/IconVerticalSolidList"/>
    <dgm:cxn modelId="{741A735E-90B7-4CE5-AF1A-F6B715EEE636}" type="presParOf" srcId="{544DD9DD-13E2-4779-AF3A-F49B17B17722}" destId="{060E0BDF-4F7D-4AE2-B535-E2FEBBB43A58}" srcOrd="3" destOrd="0" presId="urn:microsoft.com/office/officeart/2018/2/layout/IconVerticalSolidList"/>
    <dgm:cxn modelId="{35E5A540-1FB3-4126-8B28-1D614D609DD9}" type="presParOf" srcId="{3B4E7665-9EC8-4713-94B3-2FC57CCBC540}" destId="{F5B359D9-5FA1-4A04-985D-EA433834594A}" srcOrd="5" destOrd="0" presId="urn:microsoft.com/office/officeart/2018/2/layout/IconVerticalSolidList"/>
    <dgm:cxn modelId="{F67B5501-939B-4934-8FBD-633943EC8A59}" type="presParOf" srcId="{3B4E7665-9EC8-4713-94B3-2FC57CCBC540}" destId="{8D52D221-C721-48D4-BBE6-7C8C13C54201}" srcOrd="6" destOrd="0" presId="urn:microsoft.com/office/officeart/2018/2/layout/IconVerticalSolidList"/>
    <dgm:cxn modelId="{E464D2C7-D5D7-4908-B13B-69765A94CB2B}" type="presParOf" srcId="{8D52D221-C721-48D4-BBE6-7C8C13C54201}" destId="{A7159966-B7B6-4109-A43E-1B08D3BEE751}" srcOrd="0" destOrd="0" presId="urn:microsoft.com/office/officeart/2018/2/layout/IconVerticalSolidList"/>
    <dgm:cxn modelId="{9A46DD63-D059-46A0-84D5-CA7B074D527B}" type="presParOf" srcId="{8D52D221-C721-48D4-BBE6-7C8C13C54201}" destId="{4AB8F0A6-CB39-4987-9C8E-7AD48FC8DD6D}" srcOrd="1" destOrd="0" presId="urn:microsoft.com/office/officeart/2018/2/layout/IconVerticalSolidList"/>
    <dgm:cxn modelId="{A566D407-A494-48C9-889F-4DD99D147304}" type="presParOf" srcId="{8D52D221-C721-48D4-BBE6-7C8C13C54201}" destId="{BF1D7FB2-E68F-4061-9B41-1C5617E94AB4}" srcOrd="2" destOrd="0" presId="urn:microsoft.com/office/officeart/2018/2/layout/IconVerticalSolidList"/>
    <dgm:cxn modelId="{5DB32908-FB92-4B8E-A937-411BFBC64EB0}" type="presParOf" srcId="{8D52D221-C721-48D4-BBE6-7C8C13C54201}" destId="{F2CCFCBF-B5C2-47EC-A1E4-DE1B0D1DAEE2}" srcOrd="3" destOrd="0" presId="urn:microsoft.com/office/officeart/2018/2/layout/IconVerticalSolidList"/>
    <dgm:cxn modelId="{C9613D7E-7550-4936-8220-D360BC3B91FF}" type="presParOf" srcId="{3B4E7665-9EC8-4713-94B3-2FC57CCBC540}" destId="{02604089-C908-40F8-A7B4-8CD90574B9EE}" srcOrd="7" destOrd="0" presId="urn:microsoft.com/office/officeart/2018/2/layout/IconVerticalSolidList"/>
    <dgm:cxn modelId="{5F9125D4-067D-4E97-A349-AEB0D8D68356}" type="presParOf" srcId="{3B4E7665-9EC8-4713-94B3-2FC57CCBC540}" destId="{CE178622-DAA6-4BC9-9E7C-2ABDCBE4694B}" srcOrd="8" destOrd="0" presId="urn:microsoft.com/office/officeart/2018/2/layout/IconVerticalSolidList"/>
    <dgm:cxn modelId="{AE197F4D-A38B-49B8-BAE4-92E830D14AAC}" type="presParOf" srcId="{CE178622-DAA6-4BC9-9E7C-2ABDCBE4694B}" destId="{7E8FCDB7-2BC1-424D-B5D9-9724CD1CCBDE}" srcOrd="0" destOrd="0" presId="urn:microsoft.com/office/officeart/2018/2/layout/IconVerticalSolidList"/>
    <dgm:cxn modelId="{F130FEE5-4006-4E9D-B5A7-793094F7C069}" type="presParOf" srcId="{CE178622-DAA6-4BC9-9E7C-2ABDCBE4694B}" destId="{A1E7F0AD-AD68-4808-8D57-9D9CB7B13A05}" srcOrd="1" destOrd="0" presId="urn:microsoft.com/office/officeart/2018/2/layout/IconVerticalSolidList"/>
    <dgm:cxn modelId="{5E72407C-7F32-4302-A6BB-109A7A2307C5}" type="presParOf" srcId="{CE178622-DAA6-4BC9-9E7C-2ABDCBE4694B}" destId="{791BC714-AA16-4D95-B0E4-593F8CDC3064}" srcOrd="2" destOrd="0" presId="urn:microsoft.com/office/officeart/2018/2/layout/IconVerticalSolidList"/>
    <dgm:cxn modelId="{22255939-5795-4CD2-B9D8-EC35DBC3ACD4}" type="presParOf" srcId="{CE178622-DAA6-4BC9-9E7C-2ABDCBE4694B}" destId="{6903EF8B-5BED-43F8-997E-6FAFD73695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F0A4AF-01A8-47C3-8AC3-1FA9D400594E}" type="doc">
      <dgm:prSet loTypeId="urn:microsoft.com/office/officeart/2018/2/layout/IconLabelList" loCatId="icon" qsTypeId="urn:microsoft.com/office/officeart/2005/8/quickstyle/simple1#2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7CF07C-3236-4FE9-AC33-BFFEEF1623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Product Development: </a:t>
          </a:r>
          <a:r>
            <a:rPr lang="en-US"/>
            <a:t>App development, quality testing, thermoelectric technology integration, and prototype design</a:t>
          </a:r>
          <a:r>
            <a:rPr lang="en-US">
              <a:latin typeface="Aptos Display" panose="020F0302020204030204"/>
            </a:rPr>
            <a:t> = $120,000</a:t>
          </a:r>
          <a:endParaRPr lang="en-US"/>
        </a:p>
      </dgm:t>
    </dgm:pt>
    <dgm:pt modelId="{FA7638BA-88C2-43BB-8C42-03F93595F891}" type="parTrans" cxnId="{CDAA8E66-47CA-4A34-9AC7-AEDF4651209D}">
      <dgm:prSet/>
      <dgm:spPr/>
      <dgm:t>
        <a:bodyPr/>
        <a:lstStyle/>
        <a:p>
          <a:endParaRPr lang="en-US"/>
        </a:p>
      </dgm:t>
    </dgm:pt>
    <dgm:pt modelId="{D7FABA42-EE1F-47A3-BBAB-D1BAB0DCC2CD}" type="sibTrans" cxnId="{CDAA8E66-47CA-4A34-9AC7-AEDF4651209D}">
      <dgm:prSet/>
      <dgm:spPr/>
      <dgm:t>
        <a:bodyPr/>
        <a:lstStyle/>
        <a:p>
          <a:endParaRPr lang="en-US"/>
        </a:p>
      </dgm:t>
    </dgm:pt>
    <dgm:pt modelId="{2C488C7F-7F07-4584-8773-B82A3C81DC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Manufacturing Setup: </a:t>
          </a:r>
          <a:r>
            <a:rPr lang="en-US"/>
            <a:t>Solar lid development, eco-material sourcing, and tooling</a:t>
          </a:r>
          <a:r>
            <a:rPr lang="en-US">
              <a:latin typeface="Aptos Display" panose="020F0302020204030204"/>
            </a:rPr>
            <a:t> = $80,000</a:t>
          </a:r>
          <a:endParaRPr lang="en-US"/>
        </a:p>
      </dgm:t>
    </dgm:pt>
    <dgm:pt modelId="{7607DA4D-4404-4876-A99F-587C4242F030}" type="parTrans" cxnId="{EF49A23A-6AC8-4C53-8E94-689122FBC7F3}">
      <dgm:prSet/>
      <dgm:spPr/>
      <dgm:t>
        <a:bodyPr/>
        <a:lstStyle/>
        <a:p>
          <a:endParaRPr lang="en-US"/>
        </a:p>
      </dgm:t>
    </dgm:pt>
    <dgm:pt modelId="{F728CBA1-3883-448B-A1D7-655839C2E026}" type="sibTrans" cxnId="{EF49A23A-6AC8-4C53-8E94-689122FBC7F3}">
      <dgm:prSet/>
      <dgm:spPr/>
      <dgm:t>
        <a:bodyPr/>
        <a:lstStyle/>
        <a:p>
          <a:endParaRPr lang="en-US"/>
        </a:p>
      </dgm:t>
    </dgm:pt>
    <dgm:pt modelId="{250A9428-C786-4AFF-A1B1-14567BD220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Packaging Design:</a:t>
          </a:r>
          <a:r>
            <a:rPr lang="en-US"/>
            <a:t> YETI environmental branding and recycled packaging</a:t>
          </a:r>
          <a:r>
            <a:rPr lang="en-US">
              <a:latin typeface="Aptos Display" panose="020F0302020204030204"/>
            </a:rPr>
            <a:t> = $20,000</a:t>
          </a:r>
          <a:endParaRPr lang="en-US"/>
        </a:p>
      </dgm:t>
    </dgm:pt>
    <dgm:pt modelId="{836E8BD4-FFE2-49FF-86B8-2B7E1FC6E496}" type="parTrans" cxnId="{0E449E29-78A0-43A4-9E6F-489B0A9B8016}">
      <dgm:prSet/>
      <dgm:spPr/>
      <dgm:t>
        <a:bodyPr/>
        <a:lstStyle/>
        <a:p>
          <a:endParaRPr lang="en-US"/>
        </a:p>
      </dgm:t>
    </dgm:pt>
    <dgm:pt modelId="{7032EC25-591C-485E-BA03-467B907B99DB}" type="sibTrans" cxnId="{0E449E29-78A0-43A4-9E6F-489B0A9B8016}">
      <dgm:prSet/>
      <dgm:spPr/>
      <dgm:t>
        <a:bodyPr/>
        <a:lstStyle/>
        <a:p>
          <a:endParaRPr lang="en-US"/>
        </a:p>
      </dgm:t>
    </dgm:pt>
    <dgm:pt modelId="{2771E065-8BCF-4E1A-A9AE-AC217F28E2F7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/>
            <a:t>Marketing Campaigns:</a:t>
          </a:r>
          <a:r>
            <a:rPr lang="en-US"/>
            <a:t>  Social media ads (TikTok Instagram, </a:t>
          </a:r>
          <a:r>
            <a:rPr lang="en-US">
              <a:latin typeface="Aptos Display" panose="020F0302020204030204"/>
            </a:rPr>
            <a:t>YouTube</a:t>
          </a:r>
          <a:r>
            <a:rPr lang="en-US"/>
            <a:t>)  </a:t>
          </a:r>
          <a:r>
            <a:rPr lang="en-US">
              <a:latin typeface="Aptos Display" panose="020F0302020204030204"/>
            </a:rPr>
            <a:t>influencer  </a:t>
          </a:r>
          <a:r>
            <a:rPr lang="en-US"/>
            <a:t>partnerships , and PR events</a:t>
          </a:r>
          <a:r>
            <a:rPr lang="en-US">
              <a:latin typeface="Aptos Display" panose="020F0302020204030204"/>
            </a:rPr>
            <a:t> =  $70,000</a:t>
          </a:r>
          <a:endParaRPr lang="en-US"/>
        </a:p>
      </dgm:t>
    </dgm:pt>
    <dgm:pt modelId="{67471624-E509-4D8B-88F2-16AF4193D204}" type="parTrans" cxnId="{B74AEBD0-EEAB-4CB3-801C-DD0A1D1AA028}">
      <dgm:prSet/>
      <dgm:spPr/>
      <dgm:t>
        <a:bodyPr/>
        <a:lstStyle/>
        <a:p>
          <a:endParaRPr lang="en-US"/>
        </a:p>
      </dgm:t>
    </dgm:pt>
    <dgm:pt modelId="{01B2390A-A099-475C-9B06-F0193ABDC5B9}" type="sibTrans" cxnId="{B74AEBD0-EEAB-4CB3-801C-DD0A1D1AA028}">
      <dgm:prSet/>
      <dgm:spPr/>
      <dgm:t>
        <a:bodyPr/>
        <a:lstStyle/>
        <a:p>
          <a:endParaRPr lang="en-US"/>
        </a:p>
      </dgm:t>
    </dgm:pt>
    <dgm:pt modelId="{780BC0E4-9F14-4B42-86E1-6EF0754013A4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/>
            <a:t>Sales Promotions:  </a:t>
          </a:r>
          <a:r>
            <a:rPr lang="en-US"/>
            <a:t>Setup of loyalty programs, YETI package promotions, and launch discounts</a:t>
          </a:r>
          <a:r>
            <a:rPr lang="en-US">
              <a:latin typeface="Aptos Display" panose="020F0302020204030204"/>
            </a:rPr>
            <a:t> =  $25,000</a:t>
          </a:r>
          <a:endParaRPr lang="en-US"/>
        </a:p>
      </dgm:t>
    </dgm:pt>
    <dgm:pt modelId="{A09CB506-73B4-4E24-9EBC-C90FE31B5698}" type="parTrans" cxnId="{3F75587D-18A2-4E52-B861-A2F1BB9E561B}">
      <dgm:prSet/>
      <dgm:spPr/>
      <dgm:t>
        <a:bodyPr/>
        <a:lstStyle/>
        <a:p>
          <a:endParaRPr lang="en-US"/>
        </a:p>
      </dgm:t>
    </dgm:pt>
    <dgm:pt modelId="{BE1909B8-36DE-4F16-A42C-83FE16A49056}" type="sibTrans" cxnId="{3F75587D-18A2-4E52-B861-A2F1BB9E561B}">
      <dgm:prSet/>
      <dgm:spPr/>
      <dgm:t>
        <a:bodyPr/>
        <a:lstStyle/>
        <a:p>
          <a:endParaRPr lang="en-US"/>
        </a:p>
      </dgm:t>
    </dgm:pt>
    <dgm:pt modelId="{56979902-41E7-4C3E-9F55-48C356E9DD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Distributions &amp; Logistics:</a:t>
          </a:r>
          <a:r>
            <a:rPr lang="en-US"/>
            <a:t>  Shipping, warehousing, and retailing collaborations</a:t>
          </a:r>
          <a:r>
            <a:rPr lang="en-US">
              <a:latin typeface="Aptos Display" panose="020F0302020204030204"/>
            </a:rPr>
            <a:t> = $30,000</a:t>
          </a:r>
          <a:endParaRPr lang="en-US"/>
        </a:p>
      </dgm:t>
    </dgm:pt>
    <dgm:pt modelId="{06C0B9F6-DF99-4A23-B35D-00141B509A05}" type="parTrans" cxnId="{38B8A216-D28E-4955-A2F8-87E7521EDA49}">
      <dgm:prSet/>
      <dgm:spPr/>
      <dgm:t>
        <a:bodyPr/>
        <a:lstStyle/>
        <a:p>
          <a:endParaRPr lang="en-US"/>
        </a:p>
      </dgm:t>
    </dgm:pt>
    <dgm:pt modelId="{F640CEBD-FE07-4B2F-8F09-946889330507}" type="sibTrans" cxnId="{38B8A216-D28E-4955-A2F8-87E7521EDA49}">
      <dgm:prSet/>
      <dgm:spPr/>
      <dgm:t>
        <a:bodyPr/>
        <a:lstStyle/>
        <a:p>
          <a:endParaRPr lang="en-US"/>
        </a:p>
      </dgm:t>
    </dgm:pt>
    <dgm:pt modelId="{AA206A0E-63F5-4E91-A7A5-800D7123FA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Contingency Reserve (10%):</a:t>
          </a:r>
          <a:r>
            <a:rPr lang="en-US"/>
            <a:t>  Covers unforeseen costs or changes in prices</a:t>
          </a:r>
          <a:r>
            <a:rPr lang="en-US">
              <a:latin typeface="Aptos Display" panose="020F0302020204030204"/>
            </a:rPr>
            <a:t> = $34,500</a:t>
          </a:r>
          <a:endParaRPr lang="en-US"/>
        </a:p>
      </dgm:t>
    </dgm:pt>
    <dgm:pt modelId="{B1AE9EE0-4A63-4335-A38A-2AE0057843C9}" type="parTrans" cxnId="{B0853098-E0A6-4309-BF63-566994547BC4}">
      <dgm:prSet/>
      <dgm:spPr/>
      <dgm:t>
        <a:bodyPr/>
        <a:lstStyle/>
        <a:p>
          <a:endParaRPr lang="en-US"/>
        </a:p>
      </dgm:t>
    </dgm:pt>
    <dgm:pt modelId="{5FF0972F-4246-433C-8212-F44C63DA5820}" type="sibTrans" cxnId="{B0853098-E0A6-4309-BF63-566994547BC4}">
      <dgm:prSet/>
      <dgm:spPr/>
      <dgm:t>
        <a:bodyPr/>
        <a:lstStyle/>
        <a:p>
          <a:endParaRPr lang="en-US"/>
        </a:p>
      </dgm:t>
    </dgm:pt>
    <dgm:pt modelId="{4D42B74A-C9D9-4941-98A3-FFAED238B23D}" type="pres">
      <dgm:prSet presAssocID="{C2F0A4AF-01A8-47C3-8AC3-1FA9D400594E}" presName="root" presStyleCnt="0">
        <dgm:presLayoutVars>
          <dgm:dir/>
          <dgm:resizeHandles val="exact"/>
        </dgm:presLayoutVars>
      </dgm:prSet>
      <dgm:spPr/>
    </dgm:pt>
    <dgm:pt modelId="{938C822E-F6B2-4E27-8FF0-585317BD3B08}" type="pres">
      <dgm:prSet presAssocID="{AC7CF07C-3236-4FE9-AC33-BFFEEF1623DB}" presName="compNode" presStyleCnt="0"/>
      <dgm:spPr/>
    </dgm:pt>
    <dgm:pt modelId="{6C4AE88D-549A-4C3E-AEB8-EC099D48DA34}" type="pres">
      <dgm:prSet presAssocID="{AC7CF07C-3236-4FE9-AC33-BFFEEF1623DB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2F977134-F8D0-4AB3-BF07-9EC9AE97C2EE}" type="pres">
      <dgm:prSet presAssocID="{AC7CF07C-3236-4FE9-AC33-BFFEEF1623DB}" presName="spaceRect" presStyleCnt="0"/>
      <dgm:spPr/>
    </dgm:pt>
    <dgm:pt modelId="{8D5216D1-EB49-4A65-A42D-8A44DA82127C}" type="pres">
      <dgm:prSet presAssocID="{AC7CF07C-3236-4FE9-AC33-BFFEEF1623DB}" presName="textRect" presStyleLbl="revTx" presStyleIdx="0" presStyleCnt="7">
        <dgm:presLayoutVars>
          <dgm:chMax val="1"/>
          <dgm:chPref val="1"/>
        </dgm:presLayoutVars>
      </dgm:prSet>
      <dgm:spPr/>
    </dgm:pt>
    <dgm:pt modelId="{21FCAA5E-527F-4EAD-85A3-8BC446C82BAC}" type="pres">
      <dgm:prSet presAssocID="{D7FABA42-EE1F-47A3-BBAB-D1BAB0DCC2CD}" presName="sibTrans" presStyleCnt="0"/>
      <dgm:spPr/>
    </dgm:pt>
    <dgm:pt modelId="{E46109CC-AD7D-4DAF-8CA8-AB7BA0A625C0}" type="pres">
      <dgm:prSet presAssocID="{2C488C7F-7F07-4584-8773-B82A3C81DCEC}" presName="compNode" presStyleCnt="0"/>
      <dgm:spPr/>
    </dgm:pt>
    <dgm:pt modelId="{A142B4DA-79B9-4971-8C3A-67A024532C20}" type="pres">
      <dgm:prSet presAssocID="{2C488C7F-7F07-4584-8773-B82A3C81DCEC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7FD98329-6DB8-4398-A742-B840167A78FE}" type="pres">
      <dgm:prSet presAssocID="{2C488C7F-7F07-4584-8773-B82A3C81DCEC}" presName="spaceRect" presStyleCnt="0"/>
      <dgm:spPr/>
    </dgm:pt>
    <dgm:pt modelId="{C147F1AA-CC36-42BD-875B-E29B93D83388}" type="pres">
      <dgm:prSet presAssocID="{2C488C7F-7F07-4584-8773-B82A3C81DCEC}" presName="textRect" presStyleLbl="revTx" presStyleIdx="1" presStyleCnt="7">
        <dgm:presLayoutVars>
          <dgm:chMax val="1"/>
          <dgm:chPref val="1"/>
        </dgm:presLayoutVars>
      </dgm:prSet>
      <dgm:spPr/>
    </dgm:pt>
    <dgm:pt modelId="{552251A5-ED0F-4CE8-A4D5-4F6BDDE40BCE}" type="pres">
      <dgm:prSet presAssocID="{F728CBA1-3883-448B-A1D7-655839C2E026}" presName="sibTrans" presStyleCnt="0"/>
      <dgm:spPr/>
    </dgm:pt>
    <dgm:pt modelId="{A514B4E5-D1DB-4788-A30F-FFA8E74CC5FA}" type="pres">
      <dgm:prSet presAssocID="{250A9428-C786-4AFF-A1B1-14567BD220DA}" presName="compNode" presStyleCnt="0"/>
      <dgm:spPr/>
    </dgm:pt>
    <dgm:pt modelId="{478DAE1E-B4B5-467B-A714-BB543930FF68}" type="pres">
      <dgm:prSet presAssocID="{250A9428-C786-4AFF-A1B1-14567BD220DA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C753B2C-D220-4E65-A8B7-B1E869A63FB9}" type="pres">
      <dgm:prSet presAssocID="{250A9428-C786-4AFF-A1B1-14567BD220DA}" presName="spaceRect" presStyleCnt="0"/>
      <dgm:spPr/>
    </dgm:pt>
    <dgm:pt modelId="{04E7164E-521D-40B6-A53A-BA6218EBE27B}" type="pres">
      <dgm:prSet presAssocID="{250A9428-C786-4AFF-A1B1-14567BD220DA}" presName="textRect" presStyleLbl="revTx" presStyleIdx="2" presStyleCnt="7">
        <dgm:presLayoutVars>
          <dgm:chMax val="1"/>
          <dgm:chPref val="1"/>
        </dgm:presLayoutVars>
      </dgm:prSet>
      <dgm:spPr/>
    </dgm:pt>
    <dgm:pt modelId="{1A3E0A39-C337-4425-B06C-68BD67EACEA9}" type="pres">
      <dgm:prSet presAssocID="{7032EC25-591C-485E-BA03-467B907B99DB}" presName="sibTrans" presStyleCnt="0"/>
      <dgm:spPr/>
    </dgm:pt>
    <dgm:pt modelId="{9C19922C-386B-43D1-BF63-D4116FC73EBB}" type="pres">
      <dgm:prSet presAssocID="{2771E065-8BCF-4E1A-A9AE-AC217F28E2F7}" presName="compNode" presStyleCnt="0"/>
      <dgm:spPr/>
    </dgm:pt>
    <dgm:pt modelId="{D820555A-A226-46B7-95D9-F983A6F6F2CA}" type="pres">
      <dgm:prSet presAssocID="{2771E065-8BCF-4E1A-A9AE-AC217F28E2F7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C707B316-1802-4B89-95F2-558F08623EC5}" type="pres">
      <dgm:prSet presAssocID="{2771E065-8BCF-4E1A-A9AE-AC217F28E2F7}" presName="spaceRect" presStyleCnt="0"/>
      <dgm:spPr/>
    </dgm:pt>
    <dgm:pt modelId="{41F8BA7C-1EBF-422B-9B63-E8BE22FF2650}" type="pres">
      <dgm:prSet presAssocID="{2771E065-8BCF-4E1A-A9AE-AC217F28E2F7}" presName="textRect" presStyleLbl="revTx" presStyleIdx="3" presStyleCnt="7">
        <dgm:presLayoutVars>
          <dgm:chMax val="1"/>
          <dgm:chPref val="1"/>
        </dgm:presLayoutVars>
      </dgm:prSet>
      <dgm:spPr/>
    </dgm:pt>
    <dgm:pt modelId="{AFE7D7B1-35F5-4C03-89B9-9181B720AE26}" type="pres">
      <dgm:prSet presAssocID="{01B2390A-A099-475C-9B06-F0193ABDC5B9}" presName="sibTrans" presStyleCnt="0"/>
      <dgm:spPr/>
    </dgm:pt>
    <dgm:pt modelId="{4C889771-3E7D-4BCA-B764-4CE178F40189}" type="pres">
      <dgm:prSet presAssocID="{780BC0E4-9F14-4B42-86E1-6EF0754013A4}" presName="compNode" presStyleCnt="0"/>
      <dgm:spPr/>
    </dgm:pt>
    <dgm:pt modelId="{CFB1A6C5-2E87-4E68-8382-70DD6DF4D1B6}" type="pres">
      <dgm:prSet presAssocID="{780BC0E4-9F14-4B42-86E1-6EF0754013A4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4DE8B041-10BE-4831-919B-F190E4F89613}" type="pres">
      <dgm:prSet presAssocID="{780BC0E4-9F14-4B42-86E1-6EF0754013A4}" presName="spaceRect" presStyleCnt="0"/>
      <dgm:spPr/>
    </dgm:pt>
    <dgm:pt modelId="{0742966B-2935-4C76-A610-75904AB62DED}" type="pres">
      <dgm:prSet presAssocID="{780BC0E4-9F14-4B42-86E1-6EF0754013A4}" presName="textRect" presStyleLbl="revTx" presStyleIdx="4" presStyleCnt="7">
        <dgm:presLayoutVars>
          <dgm:chMax val="1"/>
          <dgm:chPref val="1"/>
        </dgm:presLayoutVars>
      </dgm:prSet>
      <dgm:spPr/>
    </dgm:pt>
    <dgm:pt modelId="{2D79D2D8-BC13-42CF-8C31-B0C10D2530DD}" type="pres">
      <dgm:prSet presAssocID="{BE1909B8-36DE-4F16-A42C-83FE16A49056}" presName="sibTrans" presStyleCnt="0"/>
      <dgm:spPr/>
    </dgm:pt>
    <dgm:pt modelId="{C20BB9D6-F133-4047-8E69-ED61A9C0F50B}" type="pres">
      <dgm:prSet presAssocID="{56979902-41E7-4C3E-9F55-48C356E9DD29}" presName="compNode" presStyleCnt="0"/>
      <dgm:spPr/>
    </dgm:pt>
    <dgm:pt modelId="{61EC77AF-F5AB-451F-B73F-470642602271}" type="pres">
      <dgm:prSet presAssocID="{56979902-41E7-4C3E-9F55-48C356E9DD29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607F77B8-5F66-4948-9768-EA2B66DC6987}" type="pres">
      <dgm:prSet presAssocID="{56979902-41E7-4C3E-9F55-48C356E9DD29}" presName="spaceRect" presStyleCnt="0"/>
      <dgm:spPr/>
    </dgm:pt>
    <dgm:pt modelId="{5125971D-F371-40FB-A300-F5E3AEFD93DD}" type="pres">
      <dgm:prSet presAssocID="{56979902-41E7-4C3E-9F55-48C356E9DD29}" presName="textRect" presStyleLbl="revTx" presStyleIdx="5" presStyleCnt="7">
        <dgm:presLayoutVars>
          <dgm:chMax val="1"/>
          <dgm:chPref val="1"/>
        </dgm:presLayoutVars>
      </dgm:prSet>
      <dgm:spPr/>
    </dgm:pt>
    <dgm:pt modelId="{0F13DEBE-8400-4212-B158-ACADC451222F}" type="pres">
      <dgm:prSet presAssocID="{F640CEBD-FE07-4B2F-8F09-946889330507}" presName="sibTrans" presStyleCnt="0"/>
      <dgm:spPr/>
    </dgm:pt>
    <dgm:pt modelId="{FA3F851E-DF6E-43A7-AD2C-D9730D39D738}" type="pres">
      <dgm:prSet presAssocID="{AA206A0E-63F5-4E91-A7A5-800D7123FA52}" presName="compNode" presStyleCnt="0"/>
      <dgm:spPr/>
    </dgm:pt>
    <dgm:pt modelId="{BDDC3DE9-92E9-4C38-A73D-43E77C6EE15C}" type="pres">
      <dgm:prSet presAssocID="{AA206A0E-63F5-4E91-A7A5-800D7123FA52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9024645D-FDB9-46AC-9DD5-EC65B406500E}" type="pres">
      <dgm:prSet presAssocID="{AA206A0E-63F5-4E91-A7A5-800D7123FA52}" presName="spaceRect" presStyleCnt="0"/>
      <dgm:spPr/>
    </dgm:pt>
    <dgm:pt modelId="{A3ADAFA6-001F-44D4-A9DD-C14910A0A6C7}" type="pres">
      <dgm:prSet presAssocID="{AA206A0E-63F5-4E91-A7A5-800D7123FA52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38B8A216-D28E-4955-A2F8-87E7521EDA49}" srcId="{C2F0A4AF-01A8-47C3-8AC3-1FA9D400594E}" destId="{56979902-41E7-4C3E-9F55-48C356E9DD29}" srcOrd="5" destOrd="0" parTransId="{06C0B9F6-DF99-4A23-B35D-00141B509A05}" sibTransId="{F640CEBD-FE07-4B2F-8F09-946889330507}"/>
    <dgm:cxn modelId="{D67EF41D-6413-405C-8D0F-4F212FB747C0}" type="presOf" srcId="{56979902-41E7-4C3E-9F55-48C356E9DD29}" destId="{5125971D-F371-40FB-A300-F5E3AEFD93DD}" srcOrd="0" destOrd="0" presId="urn:microsoft.com/office/officeart/2018/2/layout/IconLabelList"/>
    <dgm:cxn modelId="{0E449E29-78A0-43A4-9E6F-489B0A9B8016}" srcId="{C2F0A4AF-01A8-47C3-8AC3-1FA9D400594E}" destId="{250A9428-C786-4AFF-A1B1-14567BD220DA}" srcOrd="2" destOrd="0" parTransId="{836E8BD4-FFE2-49FF-86B8-2B7E1FC6E496}" sibTransId="{7032EC25-591C-485E-BA03-467B907B99DB}"/>
    <dgm:cxn modelId="{EF49A23A-6AC8-4C53-8E94-689122FBC7F3}" srcId="{C2F0A4AF-01A8-47C3-8AC3-1FA9D400594E}" destId="{2C488C7F-7F07-4584-8773-B82A3C81DCEC}" srcOrd="1" destOrd="0" parTransId="{7607DA4D-4404-4876-A99F-587C4242F030}" sibTransId="{F728CBA1-3883-448B-A1D7-655839C2E026}"/>
    <dgm:cxn modelId="{CDAA8E66-47CA-4A34-9AC7-AEDF4651209D}" srcId="{C2F0A4AF-01A8-47C3-8AC3-1FA9D400594E}" destId="{AC7CF07C-3236-4FE9-AC33-BFFEEF1623DB}" srcOrd="0" destOrd="0" parTransId="{FA7638BA-88C2-43BB-8C42-03F93595F891}" sibTransId="{D7FABA42-EE1F-47A3-BBAB-D1BAB0DCC2CD}"/>
    <dgm:cxn modelId="{3641986A-1247-4408-BDE4-0E1E104F3D6F}" type="presOf" srcId="{2C488C7F-7F07-4584-8773-B82A3C81DCEC}" destId="{C147F1AA-CC36-42BD-875B-E29B93D83388}" srcOrd="0" destOrd="0" presId="urn:microsoft.com/office/officeart/2018/2/layout/IconLabelList"/>
    <dgm:cxn modelId="{7058A54F-CDAC-4741-BB9A-9C42B73311A6}" type="presOf" srcId="{2771E065-8BCF-4E1A-A9AE-AC217F28E2F7}" destId="{41F8BA7C-1EBF-422B-9B63-E8BE22FF2650}" srcOrd="0" destOrd="0" presId="urn:microsoft.com/office/officeart/2018/2/layout/IconLabelList"/>
    <dgm:cxn modelId="{6E5CD679-EBFF-4865-8763-9AFAD862EC3C}" type="presOf" srcId="{AC7CF07C-3236-4FE9-AC33-BFFEEF1623DB}" destId="{8D5216D1-EB49-4A65-A42D-8A44DA82127C}" srcOrd="0" destOrd="0" presId="urn:microsoft.com/office/officeart/2018/2/layout/IconLabelList"/>
    <dgm:cxn modelId="{3F75587D-18A2-4E52-B861-A2F1BB9E561B}" srcId="{C2F0A4AF-01A8-47C3-8AC3-1FA9D400594E}" destId="{780BC0E4-9F14-4B42-86E1-6EF0754013A4}" srcOrd="4" destOrd="0" parTransId="{A09CB506-73B4-4E24-9EBC-C90FE31B5698}" sibTransId="{BE1909B8-36DE-4F16-A42C-83FE16A49056}"/>
    <dgm:cxn modelId="{19CF4C7F-7CA7-4533-B7D8-8CE26461384B}" type="presOf" srcId="{AA206A0E-63F5-4E91-A7A5-800D7123FA52}" destId="{A3ADAFA6-001F-44D4-A9DD-C14910A0A6C7}" srcOrd="0" destOrd="0" presId="urn:microsoft.com/office/officeart/2018/2/layout/IconLabelList"/>
    <dgm:cxn modelId="{B0853098-E0A6-4309-BF63-566994547BC4}" srcId="{C2F0A4AF-01A8-47C3-8AC3-1FA9D400594E}" destId="{AA206A0E-63F5-4E91-A7A5-800D7123FA52}" srcOrd="6" destOrd="0" parTransId="{B1AE9EE0-4A63-4335-A38A-2AE0057843C9}" sibTransId="{5FF0972F-4246-433C-8212-F44C63DA5820}"/>
    <dgm:cxn modelId="{E7E0CCAD-B4D0-49D2-BE04-59440F96BE94}" type="presOf" srcId="{C2F0A4AF-01A8-47C3-8AC3-1FA9D400594E}" destId="{4D42B74A-C9D9-4941-98A3-FFAED238B23D}" srcOrd="0" destOrd="0" presId="urn:microsoft.com/office/officeart/2018/2/layout/IconLabelList"/>
    <dgm:cxn modelId="{B74AEBD0-EEAB-4CB3-801C-DD0A1D1AA028}" srcId="{C2F0A4AF-01A8-47C3-8AC3-1FA9D400594E}" destId="{2771E065-8BCF-4E1A-A9AE-AC217F28E2F7}" srcOrd="3" destOrd="0" parTransId="{67471624-E509-4D8B-88F2-16AF4193D204}" sibTransId="{01B2390A-A099-475C-9B06-F0193ABDC5B9}"/>
    <dgm:cxn modelId="{97D439DA-BAB0-45E2-B232-39B2C4DC5FC1}" type="presOf" srcId="{780BC0E4-9F14-4B42-86E1-6EF0754013A4}" destId="{0742966B-2935-4C76-A610-75904AB62DED}" srcOrd="0" destOrd="0" presId="urn:microsoft.com/office/officeart/2018/2/layout/IconLabelList"/>
    <dgm:cxn modelId="{3BE1CEF9-15C8-40D7-8B9D-E93FC4E0E655}" type="presOf" srcId="{250A9428-C786-4AFF-A1B1-14567BD220DA}" destId="{04E7164E-521D-40B6-A53A-BA6218EBE27B}" srcOrd="0" destOrd="0" presId="urn:microsoft.com/office/officeart/2018/2/layout/IconLabelList"/>
    <dgm:cxn modelId="{B9C6BC5A-8A79-4A8A-9243-49D646DC44F5}" type="presParOf" srcId="{4D42B74A-C9D9-4941-98A3-FFAED238B23D}" destId="{938C822E-F6B2-4E27-8FF0-585317BD3B08}" srcOrd="0" destOrd="0" presId="urn:microsoft.com/office/officeart/2018/2/layout/IconLabelList"/>
    <dgm:cxn modelId="{1F75DB39-B869-421C-ACBC-B1D652C9CE19}" type="presParOf" srcId="{938C822E-F6B2-4E27-8FF0-585317BD3B08}" destId="{6C4AE88D-549A-4C3E-AEB8-EC099D48DA34}" srcOrd="0" destOrd="0" presId="urn:microsoft.com/office/officeart/2018/2/layout/IconLabelList"/>
    <dgm:cxn modelId="{054EF389-E72B-4975-A021-DC03F4272353}" type="presParOf" srcId="{938C822E-F6B2-4E27-8FF0-585317BD3B08}" destId="{2F977134-F8D0-4AB3-BF07-9EC9AE97C2EE}" srcOrd="1" destOrd="0" presId="urn:microsoft.com/office/officeart/2018/2/layout/IconLabelList"/>
    <dgm:cxn modelId="{089E04F7-2AE4-4BF2-A234-A3D5E12D0DCF}" type="presParOf" srcId="{938C822E-F6B2-4E27-8FF0-585317BD3B08}" destId="{8D5216D1-EB49-4A65-A42D-8A44DA82127C}" srcOrd="2" destOrd="0" presId="urn:microsoft.com/office/officeart/2018/2/layout/IconLabelList"/>
    <dgm:cxn modelId="{BB1B94AC-737E-462F-8454-D96EF673FA03}" type="presParOf" srcId="{4D42B74A-C9D9-4941-98A3-FFAED238B23D}" destId="{21FCAA5E-527F-4EAD-85A3-8BC446C82BAC}" srcOrd="1" destOrd="0" presId="urn:microsoft.com/office/officeart/2018/2/layout/IconLabelList"/>
    <dgm:cxn modelId="{889E15AB-B6F8-4A62-841A-4DA0338A4203}" type="presParOf" srcId="{4D42B74A-C9D9-4941-98A3-FFAED238B23D}" destId="{E46109CC-AD7D-4DAF-8CA8-AB7BA0A625C0}" srcOrd="2" destOrd="0" presId="urn:microsoft.com/office/officeart/2018/2/layout/IconLabelList"/>
    <dgm:cxn modelId="{3E50FC81-D8AC-4D89-A252-B4A283EB2CC0}" type="presParOf" srcId="{E46109CC-AD7D-4DAF-8CA8-AB7BA0A625C0}" destId="{A142B4DA-79B9-4971-8C3A-67A024532C20}" srcOrd="0" destOrd="0" presId="urn:microsoft.com/office/officeart/2018/2/layout/IconLabelList"/>
    <dgm:cxn modelId="{D551BCFB-57A9-4CDA-9651-64CF3EF7175F}" type="presParOf" srcId="{E46109CC-AD7D-4DAF-8CA8-AB7BA0A625C0}" destId="{7FD98329-6DB8-4398-A742-B840167A78FE}" srcOrd="1" destOrd="0" presId="urn:microsoft.com/office/officeart/2018/2/layout/IconLabelList"/>
    <dgm:cxn modelId="{03BA527C-1AF4-4AD2-A1CE-7F242299DCFA}" type="presParOf" srcId="{E46109CC-AD7D-4DAF-8CA8-AB7BA0A625C0}" destId="{C147F1AA-CC36-42BD-875B-E29B93D83388}" srcOrd="2" destOrd="0" presId="urn:microsoft.com/office/officeart/2018/2/layout/IconLabelList"/>
    <dgm:cxn modelId="{12F3B0B7-7E21-49E4-B5DD-07204C1ED7B7}" type="presParOf" srcId="{4D42B74A-C9D9-4941-98A3-FFAED238B23D}" destId="{552251A5-ED0F-4CE8-A4D5-4F6BDDE40BCE}" srcOrd="3" destOrd="0" presId="urn:microsoft.com/office/officeart/2018/2/layout/IconLabelList"/>
    <dgm:cxn modelId="{5FEAACA3-3AFB-4AB9-B11F-2FB234421348}" type="presParOf" srcId="{4D42B74A-C9D9-4941-98A3-FFAED238B23D}" destId="{A514B4E5-D1DB-4788-A30F-FFA8E74CC5FA}" srcOrd="4" destOrd="0" presId="urn:microsoft.com/office/officeart/2018/2/layout/IconLabelList"/>
    <dgm:cxn modelId="{2583D078-BAA6-4896-9FC6-BD8958C7F617}" type="presParOf" srcId="{A514B4E5-D1DB-4788-A30F-FFA8E74CC5FA}" destId="{478DAE1E-B4B5-467B-A714-BB543930FF68}" srcOrd="0" destOrd="0" presId="urn:microsoft.com/office/officeart/2018/2/layout/IconLabelList"/>
    <dgm:cxn modelId="{D5EDD740-61DB-49E1-B253-31FA6EFC5A19}" type="presParOf" srcId="{A514B4E5-D1DB-4788-A30F-FFA8E74CC5FA}" destId="{5C753B2C-D220-4E65-A8B7-B1E869A63FB9}" srcOrd="1" destOrd="0" presId="urn:microsoft.com/office/officeart/2018/2/layout/IconLabelList"/>
    <dgm:cxn modelId="{612C57DB-C845-4614-BE6F-4F74B8B11102}" type="presParOf" srcId="{A514B4E5-D1DB-4788-A30F-FFA8E74CC5FA}" destId="{04E7164E-521D-40B6-A53A-BA6218EBE27B}" srcOrd="2" destOrd="0" presId="urn:microsoft.com/office/officeart/2018/2/layout/IconLabelList"/>
    <dgm:cxn modelId="{302B79E2-D496-4816-99D6-3B9634951653}" type="presParOf" srcId="{4D42B74A-C9D9-4941-98A3-FFAED238B23D}" destId="{1A3E0A39-C337-4425-B06C-68BD67EACEA9}" srcOrd="5" destOrd="0" presId="urn:microsoft.com/office/officeart/2018/2/layout/IconLabelList"/>
    <dgm:cxn modelId="{344277B4-4B0A-44F6-8BD8-2B191F44B48D}" type="presParOf" srcId="{4D42B74A-C9D9-4941-98A3-FFAED238B23D}" destId="{9C19922C-386B-43D1-BF63-D4116FC73EBB}" srcOrd="6" destOrd="0" presId="urn:microsoft.com/office/officeart/2018/2/layout/IconLabelList"/>
    <dgm:cxn modelId="{1AC9FCB3-24FE-4728-8BED-ACA333E8A485}" type="presParOf" srcId="{9C19922C-386B-43D1-BF63-D4116FC73EBB}" destId="{D820555A-A226-46B7-95D9-F983A6F6F2CA}" srcOrd="0" destOrd="0" presId="urn:microsoft.com/office/officeart/2018/2/layout/IconLabelList"/>
    <dgm:cxn modelId="{6A59A0C0-0CE2-4A1B-8FB1-1411A8E63BE5}" type="presParOf" srcId="{9C19922C-386B-43D1-BF63-D4116FC73EBB}" destId="{C707B316-1802-4B89-95F2-558F08623EC5}" srcOrd="1" destOrd="0" presId="urn:microsoft.com/office/officeart/2018/2/layout/IconLabelList"/>
    <dgm:cxn modelId="{E5A24232-D1F8-4446-B59B-75039AC31E51}" type="presParOf" srcId="{9C19922C-386B-43D1-BF63-D4116FC73EBB}" destId="{41F8BA7C-1EBF-422B-9B63-E8BE22FF2650}" srcOrd="2" destOrd="0" presId="urn:microsoft.com/office/officeart/2018/2/layout/IconLabelList"/>
    <dgm:cxn modelId="{8EEE4777-DBEC-449D-99B4-FB663B9CF1C1}" type="presParOf" srcId="{4D42B74A-C9D9-4941-98A3-FFAED238B23D}" destId="{AFE7D7B1-35F5-4C03-89B9-9181B720AE26}" srcOrd="7" destOrd="0" presId="urn:microsoft.com/office/officeart/2018/2/layout/IconLabelList"/>
    <dgm:cxn modelId="{726104A7-12D7-4772-951D-6418577B976C}" type="presParOf" srcId="{4D42B74A-C9D9-4941-98A3-FFAED238B23D}" destId="{4C889771-3E7D-4BCA-B764-4CE178F40189}" srcOrd="8" destOrd="0" presId="urn:microsoft.com/office/officeart/2018/2/layout/IconLabelList"/>
    <dgm:cxn modelId="{CFA4CE88-8ACD-4164-B4D8-91E91592D0C1}" type="presParOf" srcId="{4C889771-3E7D-4BCA-B764-4CE178F40189}" destId="{CFB1A6C5-2E87-4E68-8382-70DD6DF4D1B6}" srcOrd="0" destOrd="0" presId="urn:microsoft.com/office/officeart/2018/2/layout/IconLabelList"/>
    <dgm:cxn modelId="{F2F17403-52CD-4052-8B26-80E758A0E41B}" type="presParOf" srcId="{4C889771-3E7D-4BCA-B764-4CE178F40189}" destId="{4DE8B041-10BE-4831-919B-F190E4F89613}" srcOrd="1" destOrd="0" presId="urn:microsoft.com/office/officeart/2018/2/layout/IconLabelList"/>
    <dgm:cxn modelId="{0BADECB1-D5D3-4178-98DD-31E6AD8BEC4B}" type="presParOf" srcId="{4C889771-3E7D-4BCA-B764-4CE178F40189}" destId="{0742966B-2935-4C76-A610-75904AB62DED}" srcOrd="2" destOrd="0" presId="urn:microsoft.com/office/officeart/2018/2/layout/IconLabelList"/>
    <dgm:cxn modelId="{17DBF194-31F5-49C8-A854-F14882264DE0}" type="presParOf" srcId="{4D42B74A-C9D9-4941-98A3-FFAED238B23D}" destId="{2D79D2D8-BC13-42CF-8C31-B0C10D2530DD}" srcOrd="9" destOrd="0" presId="urn:microsoft.com/office/officeart/2018/2/layout/IconLabelList"/>
    <dgm:cxn modelId="{BB0F9304-5018-4810-8BB1-9EBB3DBD6E9E}" type="presParOf" srcId="{4D42B74A-C9D9-4941-98A3-FFAED238B23D}" destId="{C20BB9D6-F133-4047-8E69-ED61A9C0F50B}" srcOrd="10" destOrd="0" presId="urn:microsoft.com/office/officeart/2018/2/layout/IconLabelList"/>
    <dgm:cxn modelId="{34FD02D7-006C-477C-B602-A0D3AD693460}" type="presParOf" srcId="{C20BB9D6-F133-4047-8E69-ED61A9C0F50B}" destId="{61EC77AF-F5AB-451F-B73F-470642602271}" srcOrd="0" destOrd="0" presId="urn:microsoft.com/office/officeart/2018/2/layout/IconLabelList"/>
    <dgm:cxn modelId="{BD83B880-908C-496F-84C8-39523C5B4675}" type="presParOf" srcId="{C20BB9D6-F133-4047-8E69-ED61A9C0F50B}" destId="{607F77B8-5F66-4948-9768-EA2B66DC6987}" srcOrd="1" destOrd="0" presId="urn:microsoft.com/office/officeart/2018/2/layout/IconLabelList"/>
    <dgm:cxn modelId="{32386881-7CE7-4C66-94AC-D14CF8E11E8F}" type="presParOf" srcId="{C20BB9D6-F133-4047-8E69-ED61A9C0F50B}" destId="{5125971D-F371-40FB-A300-F5E3AEFD93DD}" srcOrd="2" destOrd="0" presId="urn:microsoft.com/office/officeart/2018/2/layout/IconLabelList"/>
    <dgm:cxn modelId="{86E538C1-BE3B-4771-B710-427C7433B26C}" type="presParOf" srcId="{4D42B74A-C9D9-4941-98A3-FFAED238B23D}" destId="{0F13DEBE-8400-4212-B158-ACADC451222F}" srcOrd="11" destOrd="0" presId="urn:microsoft.com/office/officeart/2018/2/layout/IconLabelList"/>
    <dgm:cxn modelId="{52AE91CC-530D-4783-8753-F9C7A4F72E72}" type="presParOf" srcId="{4D42B74A-C9D9-4941-98A3-FFAED238B23D}" destId="{FA3F851E-DF6E-43A7-AD2C-D9730D39D738}" srcOrd="12" destOrd="0" presId="urn:microsoft.com/office/officeart/2018/2/layout/IconLabelList"/>
    <dgm:cxn modelId="{9E27A27C-8601-4B9F-BF00-379A76C6D60D}" type="presParOf" srcId="{FA3F851E-DF6E-43A7-AD2C-D9730D39D738}" destId="{BDDC3DE9-92E9-4C38-A73D-43E77C6EE15C}" srcOrd="0" destOrd="0" presId="urn:microsoft.com/office/officeart/2018/2/layout/IconLabelList"/>
    <dgm:cxn modelId="{F0209144-8880-4CDF-B6BB-4B0CCD19D950}" type="presParOf" srcId="{FA3F851E-DF6E-43A7-AD2C-D9730D39D738}" destId="{9024645D-FDB9-46AC-9DD5-EC65B406500E}" srcOrd="1" destOrd="0" presId="urn:microsoft.com/office/officeart/2018/2/layout/IconLabelList"/>
    <dgm:cxn modelId="{72FEA187-8561-4CAA-ADB2-A166D33F27C1}" type="presParOf" srcId="{FA3F851E-DF6E-43A7-AD2C-D9730D39D738}" destId="{A3ADAFA6-001F-44D4-A9DD-C14910A0A6C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E053D8-36B4-4C02-B575-BBE4B2AFBD95}" type="doc">
      <dgm:prSet loTypeId="urn:microsoft.com/office/officeart/2018/2/layout/IconVerticalSolidList" loCatId="icon" qsTypeId="urn:microsoft.com/office/officeart/2005/8/quickstyle/simple1#3" qsCatId="simple" csTypeId="urn:microsoft.com/office/officeart/2005/8/colors/accent5_2#1" csCatId="accent5" phldr="1"/>
      <dgm:spPr/>
      <dgm:t>
        <a:bodyPr/>
        <a:lstStyle/>
        <a:p>
          <a:endParaRPr lang="en-US"/>
        </a:p>
      </dgm:t>
    </dgm:pt>
    <dgm:pt modelId="{E7C98333-0FC3-4C43-AEB9-2D5026AC61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Sales &amp; Revenue: Revenue-per-unit, revenue-per-customer</a:t>
          </a:r>
        </a:p>
      </dgm:t>
    </dgm:pt>
    <dgm:pt modelId="{3AF20836-642F-4E72-963D-EED0FB6973F3}" type="parTrans" cxnId="{6460DABC-F3D7-4AFF-8A31-FF7521F6FE62}">
      <dgm:prSet/>
      <dgm:spPr/>
      <dgm:t>
        <a:bodyPr/>
        <a:lstStyle/>
        <a:p>
          <a:endParaRPr lang="en-US"/>
        </a:p>
      </dgm:t>
    </dgm:pt>
    <dgm:pt modelId="{7BBDB304-D10F-4E39-9F9C-0D892D8C5C51}" type="sibTrans" cxnId="{6460DABC-F3D7-4AFF-8A31-FF7521F6FE62}">
      <dgm:prSet/>
      <dgm:spPr/>
      <dgm:t>
        <a:bodyPr/>
        <a:lstStyle/>
        <a:p>
          <a:endParaRPr lang="en-US"/>
        </a:p>
      </dgm:t>
    </dgm:pt>
    <dgm:pt modelId="{C6FA5F96-D7E8-4535-8A3E-A3EAC2D612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Website &amp; E-Commerce:</a:t>
          </a:r>
          <a:r>
            <a:rPr lang="en-US">
              <a:latin typeface="Aptos Display" panose="020F0302020204030204"/>
            </a:rPr>
            <a:t> </a:t>
          </a:r>
          <a:r>
            <a:rPr lang="en-US"/>
            <a:t>Daily traffic, conversion rates, and pre-order signups</a:t>
          </a:r>
          <a:r>
            <a:rPr lang="en-US">
              <a:latin typeface="Aptos Display" panose="020F0302020204030204"/>
            </a:rPr>
            <a:t>, email open and click-through rates</a:t>
          </a:r>
          <a:endParaRPr lang="en-US"/>
        </a:p>
      </dgm:t>
    </dgm:pt>
    <dgm:pt modelId="{604EA1DC-A2DC-4F74-AD33-F9CF05F6148D}" type="parTrans" cxnId="{EC4195E3-799F-44E3-AFEC-E2867C9F9093}">
      <dgm:prSet/>
      <dgm:spPr/>
      <dgm:t>
        <a:bodyPr/>
        <a:lstStyle/>
        <a:p>
          <a:endParaRPr lang="en-US"/>
        </a:p>
      </dgm:t>
    </dgm:pt>
    <dgm:pt modelId="{B90BCC78-CD8B-4FD6-B26F-B1F838EE995F}" type="sibTrans" cxnId="{EC4195E3-799F-44E3-AFEC-E2867C9F9093}">
      <dgm:prSet/>
      <dgm:spPr/>
      <dgm:t>
        <a:bodyPr/>
        <a:lstStyle/>
        <a:p>
          <a:endParaRPr lang="en-US"/>
        </a:p>
      </dgm:t>
    </dgm:pt>
    <dgm:pt modelId="{819B2C21-6414-4705-B614-E1ECF6052FDE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 Display" panose="020F0302020204030204"/>
            </a:rPr>
            <a:t>ROI &amp; Channel Impact: Calculate ROMI of marketing efforts to find the most effective marketing plans</a:t>
          </a:r>
          <a:endParaRPr lang="en-US"/>
        </a:p>
      </dgm:t>
    </dgm:pt>
    <dgm:pt modelId="{C496A08F-2E5F-4915-8465-6D55FA19CCF8}" type="parTrans" cxnId="{D1CDEB1B-3FF4-4377-A23B-86EE1AA43D94}">
      <dgm:prSet/>
      <dgm:spPr/>
      <dgm:t>
        <a:bodyPr/>
        <a:lstStyle/>
        <a:p>
          <a:endParaRPr lang="en-US"/>
        </a:p>
      </dgm:t>
    </dgm:pt>
    <dgm:pt modelId="{1203B069-6200-4DA0-A819-0CDB6E469444}" type="sibTrans" cxnId="{D1CDEB1B-3FF4-4377-A23B-86EE1AA43D94}">
      <dgm:prSet/>
      <dgm:spPr/>
      <dgm:t>
        <a:bodyPr/>
        <a:lstStyle/>
        <a:p>
          <a:endParaRPr lang="en-US"/>
        </a:p>
      </dgm:t>
    </dgm:pt>
    <dgm:pt modelId="{2F2001E7-184A-483F-BE6B-BFD151B16D65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Aptos"/>
            </a:rPr>
            <a:t>Social Media Engagement: </a:t>
          </a:r>
          <a:r>
            <a:rPr lang="en-US"/>
            <a:t>Likes, shares, and hashtags on social </a:t>
          </a:r>
          <a:r>
            <a:rPr lang="en-US">
              <a:latin typeface="Aptos Display" panose="020F0302020204030204"/>
            </a:rPr>
            <a:t>media, Viewer-engagement</a:t>
          </a:r>
          <a:r>
            <a:rPr lang="en-US"/>
            <a:t> ratios (views-likes, views-followers, etc</a:t>
          </a:r>
          <a:r>
            <a:rPr lang="en-US">
              <a:latin typeface="Aptos Display" panose="020F0302020204030204"/>
            </a:rPr>
            <a:t>.), link</a:t>
          </a:r>
          <a:r>
            <a:rPr lang="en-US"/>
            <a:t> </a:t>
          </a:r>
          <a:r>
            <a:rPr lang="en-US">
              <a:latin typeface="Aptos Display" panose="020F0302020204030204"/>
            </a:rPr>
            <a:t>in bio clicks</a:t>
          </a:r>
          <a:endParaRPr lang="en-US"/>
        </a:p>
      </dgm:t>
    </dgm:pt>
    <dgm:pt modelId="{903089B6-A36E-4E9E-AA1F-01119A9CA1D8}" type="parTrans" cxnId="{C7E1AAD7-CA2D-40B1-B633-9C9DBD8AB272}">
      <dgm:prSet/>
      <dgm:spPr/>
      <dgm:t>
        <a:bodyPr/>
        <a:lstStyle/>
        <a:p>
          <a:endParaRPr lang="en-US"/>
        </a:p>
      </dgm:t>
    </dgm:pt>
    <dgm:pt modelId="{D224F1F1-00BC-4457-B606-C7BFC8E9CA46}" type="sibTrans" cxnId="{C7E1AAD7-CA2D-40B1-B633-9C9DBD8AB272}">
      <dgm:prSet/>
      <dgm:spPr/>
      <dgm:t>
        <a:bodyPr/>
        <a:lstStyle/>
        <a:p>
          <a:endParaRPr lang="en-US"/>
        </a:p>
      </dgm:t>
    </dgm:pt>
    <dgm:pt modelId="{8F9AA0AE-6770-4D66-9FF9-4F2E090BB7B1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Customer Satisfaction</a:t>
          </a:r>
          <a:r>
            <a:rPr lang="en-US">
              <a:latin typeface="Aptos Display" panose="020F0302020204030204"/>
            </a:rPr>
            <a:t>: Track repeat purchases, expansive feedback through satisfaction surveys, loyalty program usage rates</a:t>
          </a:r>
          <a:endParaRPr lang="en-US"/>
        </a:p>
      </dgm:t>
    </dgm:pt>
    <dgm:pt modelId="{6D79B44A-7570-49DF-81CF-5C7DC432860B}" type="parTrans" cxnId="{95075793-E9D7-4228-951D-9C04999ECBB2}">
      <dgm:prSet/>
      <dgm:spPr/>
      <dgm:t>
        <a:bodyPr/>
        <a:lstStyle/>
        <a:p>
          <a:endParaRPr lang="en-US"/>
        </a:p>
      </dgm:t>
    </dgm:pt>
    <dgm:pt modelId="{898F00AF-9834-4E0A-95F3-DE91C8F725CB}" type="sibTrans" cxnId="{95075793-E9D7-4228-951D-9C04999ECBB2}">
      <dgm:prSet/>
      <dgm:spPr/>
      <dgm:t>
        <a:bodyPr/>
        <a:lstStyle/>
        <a:p>
          <a:endParaRPr lang="en-US"/>
        </a:p>
      </dgm:t>
    </dgm:pt>
    <dgm:pt modelId="{3B4E7665-9EC8-4713-94B3-2FC57CCBC540}" type="pres">
      <dgm:prSet presAssocID="{48E053D8-36B4-4C02-B575-BBE4B2AFBD95}" presName="root" presStyleCnt="0">
        <dgm:presLayoutVars>
          <dgm:dir/>
          <dgm:resizeHandles val="exact"/>
        </dgm:presLayoutVars>
      </dgm:prSet>
      <dgm:spPr/>
    </dgm:pt>
    <dgm:pt modelId="{F29A4840-0BEF-446E-9CD6-E0C5429CB8EB}" type="pres">
      <dgm:prSet presAssocID="{E7C98333-0FC3-4C43-AEB9-2D5026AC6152}" presName="compNode" presStyleCnt="0"/>
      <dgm:spPr/>
    </dgm:pt>
    <dgm:pt modelId="{F33D65CD-ACE8-4359-B7B7-FDC914CF8748}" type="pres">
      <dgm:prSet presAssocID="{E7C98333-0FC3-4C43-AEB9-2D5026AC6152}" presName="bgRect" presStyleLbl="bgShp" presStyleIdx="0" presStyleCnt="5"/>
      <dgm:spPr/>
    </dgm:pt>
    <dgm:pt modelId="{859CA9D1-EE9C-41B4-AA1D-5032E3FCC7CF}" type="pres">
      <dgm:prSet presAssocID="{E7C98333-0FC3-4C43-AEB9-2D5026AC6152}" presName="iconRect" presStyleLbl="nod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with solid fill"/>
        </a:ext>
      </dgm:extLst>
    </dgm:pt>
    <dgm:pt modelId="{D6DDA465-D8F4-4A5C-8FA8-A4B7C3A1F0F0}" type="pres">
      <dgm:prSet presAssocID="{E7C98333-0FC3-4C43-AEB9-2D5026AC6152}" presName="spaceRect" presStyleCnt="0"/>
      <dgm:spPr/>
    </dgm:pt>
    <dgm:pt modelId="{4740A160-654D-4DB7-A55A-020C7721005F}" type="pres">
      <dgm:prSet presAssocID="{E7C98333-0FC3-4C43-AEB9-2D5026AC6152}" presName="parTx" presStyleLbl="revTx" presStyleIdx="0" presStyleCnt="5">
        <dgm:presLayoutVars>
          <dgm:chMax val="0"/>
          <dgm:chPref val="0"/>
        </dgm:presLayoutVars>
      </dgm:prSet>
      <dgm:spPr/>
    </dgm:pt>
    <dgm:pt modelId="{F15473D3-DD36-4041-BD9C-973B245EF1A4}" type="pres">
      <dgm:prSet presAssocID="{7BBDB304-D10F-4E39-9F9C-0D892D8C5C51}" presName="sibTrans" presStyleCnt="0"/>
      <dgm:spPr/>
    </dgm:pt>
    <dgm:pt modelId="{9799C750-5595-455D-8F42-1EC51B7A10C5}" type="pres">
      <dgm:prSet presAssocID="{2F2001E7-184A-483F-BE6B-BFD151B16D65}" presName="compNode" presStyleCnt="0"/>
      <dgm:spPr/>
    </dgm:pt>
    <dgm:pt modelId="{0738B941-BE73-486B-98FC-4ED2F0DE92F6}" type="pres">
      <dgm:prSet presAssocID="{2F2001E7-184A-483F-BE6B-BFD151B16D65}" presName="bgRect" presStyleLbl="bgShp" presStyleIdx="1" presStyleCnt="5"/>
      <dgm:spPr/>
    </dgm:pt>
    <dgm:pt modelId="{0808DE92-5072-433D-B092-9C6D7195A98B}" type="pres">
      <dgm:prSet presAssocID="{2F2001E7-184A-483F-BE6B-BFD151B16D65}" presName="iconRect" presStyleLbl="nod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 with solid fill"/>
        </a:ext>
      </dgm:extLst>
    </dgm:pt>
    <dgm:pt modelId="{6134B6E1-4B33-4C7C-8E46-FEAD3178150F}" type="pres">
      <dgm:prSet presAssocID="{2F2001E7-184A-483F-BE6B-BFD151B16D65}" presName="spaceRect" presStyleCnt="0"/>
      <dgm:spPr/>
    </dgm:pt>
    <dgm:pt modelId="{68587EDE-8982-46AE-B5A4-1EC3F967B393}" type="pres">
      <dgm:prSet presAssocID="{2F2001E7-184A-483F-BE6B-BFD151B16D65}" presName="parTx" presStyleLbl="revTx" presStyleIdx="1" presStyleCnt="5">
        <dgm:presLayoutVars>
          <dgm:chMax val="0"/>
          <dgm:chPref val="0"/>
        </dgm:presLayoutVars>
      </dgm:prSet>
      <dgm:spPr/>
    </dgm:pt>
    <dgm:pt modelId="{B471A61D-7AD8-44AB-BE1C-F9D6444D1526}" type="pres">
      <dgm:prSet presAssocID="{D224F1F1-00BC-4457-B606-C7BFC8E9CA46}" presName="sibTrans" presStyleCnt="0"/>
      <dgm:spPr/>
    </dgm:pt>
    <dgm:pt modelId="{544DD9DD-13E2-4779-AF3A-F49B17B17722}" type="pres">
      <dgm:prSet presAssocID="{C6FA5F96-D7E8-4535-8A3E-A3EAC2D612CA}" presName="compNode" presStyleCnt="0"/>
      <dgm:spPr/>
    </dgm:pt>
    <dgm:pt modelId="{E6FF6E45-76CF-4A54-B6D7-09D7D94D2D6C}" type="pres">
      <dgm:prSet presAssocID="{C6FA5F96-D7E8-4535-8A3E-A3EAC2D612CA}" presName="bgRect" presStyleLbl="bgShp" presStyleIdx="2" presStyleCnt="5"/>
      <dgm:spPr/>
    </dgm:pt>
    <dgm:pt modelId="{2F0557D8-63B7-46A7-8B08-5E8F1427586B}" type="pres">
      <dgm:prSet presAssocID="{C6FA5F96-D7E8-4535-8A3E-A3EAC2D612CA}" presName="iconRect" presStyleLbl="nod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 with solid fill"/>
        </a:ext>
      </dgm:extLst>
    </dgm:pt>
    <dgm:pt modelId="{613DD0A0-B765-47C9-9AB9-9248F1DCE347}" type="pres">
      <dgm:prSet presAssocID="{C6FA5F96-D7E8-4535-8A3E-A3EAC2D612CA}" presName="spaceRect" presStyleCnt="0"/>
      <dgm:spPr/>
    </dgm:pt>
    <dgm:pt modelId="{060E0BDF-4F7D-4AE2-B535-E2FEBBB43A58}" type="pres">
      <dgm:prSet presAssocID="{C6FA5F96-D7E8-4535-8A3E-A3EAC2D612CA}" presName="parTx" presStyleLbl="revTx" presStyleIdx="2" presStyleCnt="5">
        <dgm:presLayoutVars>
          <dgm:chMax val="0"/>
          <dgm:chPref val="0"/>
        </dgm:presLayoutVars>
      </dgm:prSet>
      <dgm:spPr/>
    </dgm:pt>
    <dgm:pt modelId="{F5B359D9-5FA1-4A04-985D-EA433834594A}" type="pres">
      <dgm:prSet presAssocID="{B90BCC78-CD8B-4FD6-B26F-B1F838EE995F}" presName="sibTrans" presStyleCnt="0"/>
      <dgm:spPr/>
    </dgm:pt>
    <dgm:pt modelId="{C203E7B1-0AD7-4964-A9A2-2EFBEB7C297D}" type="pres">
      <dgm:prSet presAssocID="{8F9AA0AE-6770-4D66-9FF9-4F2E090BB7B1}" presName="compNode" presStyleCnt="0"/>
      <dgm:spPr/>
    </dgm:pt>
    <dgm:pt modelId="{33006FD7-ADAA-4B64-8D2B-967C145FC4F0}" type="pres">
      <dgm:prSet presAssocID="{8F9AA0AE-6770-4D66-9FF9-4F2E090BB7B1}" presName="bgRect" presStyleLbl="bgShp" presStyleIdx="3" presStyleCnt="5"/>
      <dgm:spPr/>
    </dgm:pt>
    <dgm:pt modelId="{8460B8DD-B3B9-4726-BF36-66BA2B417384}" type="pres">
      <dgm:prSet presAssocID="{8F9AA0AE-6770-4D66-9FF9-4F2E090BB7B1}" presName="iconRect" presStyleLbl="nod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 with solid fill"/>
        </a:ext>
      </dgm:extLst>
    </dgm:pt>
    <dgm:pt modelId="{6CC95C6D-3591-4E12-A7F5-5F5195183393}" type="pres">
      <dgm:prSet presAssocID="{8F9AA0AE-6770-4D66-9FF9-4F2E090BB7B1}" presName="spaceRect" presStyleCnt="0"/>
      <dgm:spPr/>
    </dgm:pt>
    <dgm:pt modelId="{7074C542-173E-4DD4-84B6-6EA0E8174A71}" type="pres">
      <dgm:prSet presAssocID="{8F9AA0AE-6770-4D66-9FF9-4F2E090BB7B1}" presName="parTx" presStyleLbl="revTx" presStyleIdx="3" presStyleCnt="5">
        <dgm:presLayoutVars>
          <dgm:chMax val="0"/>
          <dgm:chPref val="0"/>
        </dgm:presLayoutVars>
      </dgm:prSet>
      <dgm:spPr/>
    </dgm:pt>
    <dgm:pt modelId="{6143327B-5A4F-4E43-8B2C-A3E4E6C1D413}" type="pres">
      <dgm:prSet presAssocID="{898F00AF-9834-4E0A-95F3-DE91C8F725CB}" presName="sibTrans" presStyleCnt="0"/>
      <dgm:spPr/>
    </dgm:pt>
    <dgm:pt modelId="{CE178622-DAA6-4BC9-9E7C-2ABDCBE4694B}" type="pres">
      <dgm:prSet presAssocID="{819B2C21-6414-4705-B614-E1ECF6052FDE}" presName="compNode" presStyleCnt="0"/>
      <dgm:spPr/>
    </dgm:pt>
    <dgm:pt modelId="{7E8FCDB7-2BC1-424D-B5D9-9724CD1CCBDE}" type="pres">
      <dgm:prSet presAssocID="{819B2C21-6414-4705-B614-E1ECF6052FDE}" presName="bgRect" presStyleLbl="bgShp" presStyleIdx="4" presStyleCnt="5"/>
      <dgm:spPr/>
    </dgm:pt>
    <dgm:pt modelId="{A1E7F0AD-AD68-4808-8D57-9D9CB7B13A05}" type="pres">
      <dgm:prSet presAssocID="{819B2C21-6414-4705-B614-E1ECF6052FDE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bar chart with solid fill"/>
        </a:ext>
      </dgm:extLst>
    </dgm:pt>
    <dgm:pt modelId="{791BC714-AA16-4D95-B0E4-593F8CDC3064}" type="pres">
      <dgm:prSet presAssocID="{819B2C21-6414-4705-B614-E1ECF6052FDE}" presName="spaceRect" presStyleCnt="0"/>
      <dgm:spPr/>
    </dgm:pt>
    <dgm:pt modelId="{6903EF8B-5BED-43F8-997E-6FAFD736951D}" type="pres">
      <dgm:prSet presAssocID="{819B2C21-6414-4705-B614-E1ECF6052FD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1CDEB1B-3FF4-4377-A23B-86EE1AA43D94}" srcId="{48E053D8-36B4-4C02-B575-BBE4B2AFBD95}" destId="{819B2C21-6414-4705-B614-E1ECF6052FDE}" srcOrd="4" destOrd="0" parTransId="{C496A08F-2E5F-4915-8465-6D55FA19CCF8}" sibTransId="{1203B069-6200-4DA0-A819-0CDB6E469444}"/>
    <dgm:cxn modelId="{EA59501E-AB08-4A5E-A2B6-EFB9A3C90B35}" type="presOf" srcId="{C6FA5F96-D7E8-4535-8A3E-A3EAC2D612CA}" destId="{060E0BDF-4F7D-4AE2-B535-E2FEBBB43A58}" srcOrd="0" destOrd="0" presId="urn:microsoft.com/office/officeart/2018/2/layout/IconVerticalSolidList"/>
    <dgm:cxn modelId="{00EBD153-6BF2-47D0-ABC2-539B90A4C1C2}" type="presOf" srcId="{2F2001E7-184A-483F-BE6B-BFD151B16D65}" destId="{68587EDE-8982-46AE-B5A4-1EC3F967B393}" srcOrd="0" destOrd="0" presId="urn:microsoft.com/office/officeart/2018/2/layout/IconVerticalSolidList"/>
    <dgm:cxn modelId="{00AB6355-E22C-4335-98D7-B60A275CB471}" type="presOf" srcId="{819B2C21-6414-4705-B614-E1ECF6052FDE}" destId="{6903EF8B-5BED-43F8-997E-6FAFD736951D}" srcOrd="0" destOrd="0" presId="urn:microsoft.com/office/officeart/2018/2/layout/IconVerticalSolidList"/>
    <dgm:cxn modelId="{9510F385-6978-4637-B7AB-55FA1C5BAFE6}" type="presOf" srcId="{8F9AA0AE-6770-4D66-9FF9-4F2E090BB7B1}" destId="{7074C542-173E-4DD4-84B6-6EA0E8174A71}" srcOrd="0" destOrd="0" presId="urn:microsoft.com/office/officeart/2018/2/layout/IconVerticalSolidList"/>
    <dgm:cxn modelId="{95075793-E9D7-4228-951D-9C04999ECBB2}" srcId="{48E053D8-36B4-4C02-B575-BBE4B2AFBD95}" destId="{8F9AA0AE-6770-4D66-9FF9-4F2E090BB7B1}" srcOrd="3" destOrd="0" parTransId="{6D79B44A-7570-49DF-81CF-5C7DC432860B}" sibTransId="{898F00AF-9834-4E0A-95F3-DE91C8F725CB}"/>
    <dgm:cxn modelId="{406B1EB7-0049-40AE-87B0-EBF5A6E22684}" type="presOf" srcId="{E7C98333-0FC3-4C43-AEB9-2D5026AC6152}" destId="{4740A160-654D-4DB7-A55A-020C7721005F}" srcOrd="0" destOrd="0" presId="urn:microsoft.com/office/officeart/2018/2/layout/IconVerticalSolidList"/>
    <dgm:cxn modelId="{6460DABC-F3D7-4AFF-8A31-FF7521F6FE62}" srcId="{48E053D8-36B4-4C02-B575-BBE4B2AFBD95}" destId="{E7C98333-0FC3-4C43-AEB9-2D5026AC6152}" srcOrd="0" destOrd="0" parTransId="{3AF20836-642F-4E72-963D-EED0FB6973F3}" sibTransId="{7BBDB304-D10F-4E39-9F9C-0D892D8C5C51}"/>
    <dgm:cxn modelId="{5A456AD0-8E86-4012-AF72-B82E51AF0B6F}" type="presOf" srcId="{48E053D8-36B4-4C02-B575-BBE4B2AFBD95}" destId="{3B4E7665-9EC8-4713-94B3-2FC57CCBC540}" srcOrd="0" destOrd="0" presId="urn:microsoft.com/office/officeart/2018/2/layout/IconVerticalSolidList"/>
    <dgm:cxn modelId="{C7E1AAD7-CA2D-40B1-B633-9C9DBD8AB272}" srcId="{48E053D8-36B4-4C02-B575-BBE4B2AFBD95}" destId="{2F2001E7-184A-483F-BE6B-BFD151B16D65}" srcOrd="1" destOrd="0" parTransId="{903089B6-A36E-4E9E-AA1F-01119A9CA1D8}" sibTransId="{D224F1F1-00BC-4457-B606-C7BFC8E9CA46}"/>
    <dgm:cxn modelId="{EC4195E3-799F-44E3-AFEC-E2867C9F9093}" srcId="{48E053D8-36B4-4C02-B575-BBE4B2AFBD95}" destId="{C6FA5F96-D7E8-4535-8A3E-A3EAC2D612CA}" srcOrd="2" destOrd="0" parTransId="{604EA1DC-A2DC-4F74-AD33-F9CF05F6148D}" sibTransId="{B90BCC78-CD8B-4FD6-B26F-B1F838EE995F}"/>
    <dgm:cxn modelId="{0780C01B-E236-4F82-8CC6-CEA23099DFA4}" type="presParOf" srcId="{3B4E7665-9EC8-4713-94B3-2FC57CCBC540}" destId="{F29A4840-0BEF-446E-9CD6-E0C5429CB8EB}" srcOrd="0" destOrd="0" presId="urn:microsoft.com/office/officeart/2018/2/layout/IconVerticalSolidList"/>
    <dgm:cxn modelId="{27D29F98-1C7E-46ED-91A4-0931DEBEC93A}" type="presParOf" srcId="{F29A4840-0BEF-446E-9CD6-E0C5429CB8EB}" destId="{F33D65CD-ACE8-4359-B7B7-FDC914CF8748}" srcOrd="0" destOrd="0" presId="urn:microsoft.com/office/officeart/2018/2/layout/IconVerticalSolidList"/>
    <dgm:cxn modelId="{75BAA7A0-5C21-4847-AE80-79C0BFA5D789}" type="presParOf" srcId="{F29A4840-0BEF-446E-9CD6-E0C5429CB8EB}" destId="{859CA9D1-EE9C-41B4-AA1D-5032E3FCC7CF}" srcOrd="1" destOrd="0" presId="urn:microsoft.com/office/officeart/2018/2/layout/IconVerticalSolidList"/>
    <dgm:cxn modelId="{EDA5E42F-F936-419B-9214-CCF5E4C55B53}" type="presParOf" srcId="{F29A4840-0BEF-446E-9CD6-E0C5429CB8EB}" destId="{D6DDA465-D8F4-4A5C-8FA8-A4B7C3A1F0F0}" srcOrd="2" destOrd="0" presId="urn:microsoft.com/office/officeart/2018/2/layout/IconVerticalSolidList"/>
    <dgm:cxn modelId="{27D29ED9-59C7-4D02-B87B-076A33306CCD}" type="presParOf" srcId="{F29A4840-0BEF-446E-9CD6-E0C5429CB8EB}" destId="{4740A160-654D-4DB7-A55A-020C7721005F}" srcOrd="3" destOrd="0" presId="urn:microsoft.com/office/officeart/2018/2/layout/IconVerticalSolidList"/>
    <dgm:cxn modelId="{8A907252-EDEB-47E9-97D5-935312CDF76B}" type="presParOf" srcId="{3B4E7665-9EC8-4713-94B3-2FC57CCBC540}" destId="{F15473D3-DD36-4041-BD9C-973B245EF1A4}" srcOrd="1" destOrd="0" presId="urn:microsoft.com/office/officeart/2018/2/layout/IconVerticalSolidList"/>
    <dgm:cxn modelId="{2E845678-8846-49CF-A575-2BDE7DD3B6D3}" type="presParOf" srcId="{3B4E7665-9EC8-4713-94B3-2FC57CCBC540}" destId="{9799C750-5595-455D-8F42-1EC51B7A10C5}" srcOrd="2" destOrd="0" presId="urn:microsoft.com/office/officeart/2018/2/layout/IconVerticalSolidList"/>
    <dgm:cxn modelId="{25D81CC5-7FB5-4FF9-A6C1-BA6E5FFB5001}" type="presParOf" srcId="{9799C750-5595-455D-8F42-1EC51B7A10C5}" destId="{0738B941-BE73-486B-98FC-4ED2F0DE92F6}" srcOrd="0" destOrd="0" presId="urn:microsoft.com/office/officeart/2018/2/layout/IconVerticalSolidList"/>
    <dgm:cxn modelId="{7BA3D61F-3406-444A-9228-5CE8658C9654}" type="presParOf" srcId="{9799C750-5595-455D-8F42-1EC51B7A10C5}" destId="{0808DE92-5072-433D-B092-9C6D7195A98B}" srcOrd="1" destOrd="0" presId="urn:microsoft.com/office/officeart/2018/2/layout/IconVerticalSolidList"/>
    <dgm:cxn modelId="{5C8F1A99-968B-4DF8-A935-F458470D5632}" type="presParOf" srcId="{9799C750-5595-455D-8F42-1EC51B7A10C5}" destId="{6134B6E1-4B33-4C7C-8E46-FEAD3178150F}" srcOrd="2" destOrd="0" presId="urn:microsoft.com/office/officeart/2018/2/layout/IconVerticalSolidList"/>
    <dgm:cxn modelId="{A1D0B888-F17A-4F5D-B6C3-CCE6BB83FBD9}" type="presParOf" srcId="{9799C750-5595-455D-8F42-1EC51B7A10C5}" destId="{68587EDE-8982-46AE-B5A4-1EC3F967B393}" srcOrd="3" destOrd="0" presId="urn:microsoft.com/office/officeart/2018/2/layout/IconVerticalSolidList"/>
    <dgm:cxn modelId="{393DAF30-E3EC-4A21-B7AC-557B4A7F9ADC}" type="presParOf" srcId="{3B4E7665-9EC8-4713-94B3-2FC57CCBC540}" destId="{B471A61D-7AD8-44AB-BE1C-F9D6444D1526}" srcOrd="3" destOrd="0" presId="urn:microsoft.com/office/officeart/2018/2/layout/IconVerticalSolidList"/>
    <dgm:cxn modelId="{3D17646F-70D5-4EE3-963A-507BA5AE6679}" type="presParOf" srcId="{3B4E7665-9EC8-4713-94B3-2FC57CCBC540}" destId="{544DD9DD-13E2-4779-AF3A-F49B17B17722}" srcOrd="4" destOrd="0" presId="urn:microsoft.com/office/officeart/2018/2/layout/IconVerticalSolidList"/>
    <dgm:cxn modelId="{35E130CF-E14E-42D3-9F36-A48BF7548D52}" type="presParOf" srcId="{544DD9DD-13E2-4779-AF3A-F49B17B17722}" destId="{E6FF6E45-76CF-4A54-B6D7-09D7D94D2D6C}" srcOrd="0" destOrd="0" presId="urn:microsoft.com/office/officeart/2018/2/layout/IconVerticalSolidList"/>
    <dgm:cxn modelId="{4B957DB3-2C78-4778-A2F0-4A69480F3309}" type="presParOf" srcId="{544DD9DD-13E2-4779-AF3A-F49B17B17722}" destId="{2F0557D8-63B7-46A7-8B08-5E8F1427586B}" srcOrd="1" destOrd="0" presId="urn:microsoft.com/office/officeart/2018/2/layout/IconVerticalSolidList"/>
    <dgm:cxn modelId="{CB970696-D71F-4ED2-8F18-240D769AF55D}" type="presParOf" srcId="{544DD9DD-13E2-4779-AF3A-F49B17B17722}" destId="{613DD0A0-B765-47C9-9AB9-9248F1DCE347}" srcOrd="2" destOrd="0" presId="urn:microsoft.com/office/officeart/2018/2/layout/IconVerticalSolidList"/>
    <dgm:cxn modelId="{62ADAFBD-6DBB-4D81-B43E-6A5ED1922DBE}" type="presParOf" srcId="{544DD9DD-13E2-4779-AF3A-F49B17B17722}" destId="{060E0BDF-4F7D-4AE2-B535-E2FEBBB43A58}" srcOrd="3" destOrd="0" presId="urn:microsoft.com/office/officeart/2018/2/layout/IconVerticalSolidList"/>
    <dgm:cxn modelId="{B25C09F8-6512-4570-990F-C161216328CC}" type="presParOf" srcId="{3B4E7665-9EC8-4713-94B3-2FC57CCBC540}" destId="{F5B359D9-5FA1-4A04-985D-EA433834594A}" srcOrd="5" destOrd="0" presId="urn:microsoft.com/office/officeart/2018/2/layout/IconVerticalSolidList"/>
    <dgm:cxn modelId="{864BB9C7-0A93-42AC-B8CF-0D8F4EE665C0}" type="presParOf" srcId="{3B4E7665-9EC8-4713-94B3-2FC57CCBC540}" destId="{C203E7B1-0AD7-4964-A9A2-2EFBEB7C297D}" srcOrd="6" destOrd="0" presId="urn:microsoft.com/office/officeart/2018/2/layout/IconVerticalSolidList"/>
    <dgm:cxn modelId="{DEA86723-CFDB-4B2C-9C49-5675325B64A6}" type="presParOf" srcId="{C203E7B1-0AD7-4964-A9A2-2EFBEB7C297D}" destId="{33006FD7-ADAA-4B64-8D2B-967C145FC4F0}" srcOrd="0" destOrd="0" presId="urn:microsoft.com/office/officeart/2018/2/layout/IconVerticalSolidList"/>
    <dgm:cxn modelId="{091C3546-84AC-4BA5-9703-67BA9621E24B}" type="presParOf" srcId="{C203E7B1-0AD7-4964-A9A2-2EFBEB7C297D}" destId="{8460B8DD-B3B9-4726-BF36-66BA2B417384}" srcOrd="1" destOrd="0" presId="urn:microsoft.com/office/officeart/2018/2/layout/IconVerticalSolidList"/>
    <dgm:cxn modelId="{5C29EB84-3E0E-4867-A776-A9BBCC9B5118}" type="presParOf" srcId="{C203E7B1-0AD7-4964-A9A2-2EFBEB7C297D}" destId="{6CC95C6D-3591-4E12-A7F5-5F5195183393}" srcOrd="2" destOrd="0" presId="urn:microsoft.com/office/officeart/2018/2/layout/IconVerticalSolidList"/>
    <dgm:cxn modelId="{3B286829-D248-48A4-A3E6-23D41104855A}" type="presParOf" srcId="{C203E7B1-0AD7-4964-A9A2-2EFBEB7C297D}" destId="{7074C542-173E-4DD4-84B6-6EA0E8174A71}" srcOrd="3" destOrd="0" presId="urn:microsoft.com/office/officeart/2018/2/layout/IconVerticalSolidList"/>
    <dgm:cxn modelId="{48015D97-B93C-4B07-8C49-03FCF44AF20A}" type="presParOf" srcId="{3B4E7665-9EC8-4713-94B3-2FC57CCBC540}" destId="{6143327B-5A4F-4E43-8B2C-A3E4E6C1D413}" srcOrd="7" destOrd="0" presId="urn:microsoft.com/office/officeart/2018/2/layout/IconVerticalSolidList"/>
    <dgm:cxn modelId="{389A0320-B0D2-43E0-AE1D-AE79C572BA6E}" type="presParOf" srcId="{3B4E7665-9EC8-4713-94B3-2FC57CCBC540}" destId="{CE178622-DAA6-4BC9-9E7C-2ABDCBE4694B}" srcOrd="8" destOrd="0" presId="urn:microsoft.com/office/officeart/2018/2/layout/IconVerticalSolidList"/>
    <dgm:cxn modelId="{71EE2451-65BC-48C4-9C2F-2E2F4532E14A}" type="presParOf" srcId="{CE178622-DAA6-4BC9-9E7C-2ABDCBE4694B}" destId="{7E8FCDB7-2BC1-424D-B5D9-9724CD1CCBDE}" srcOrd="0" destOrd="0" presId="urn:microsoft.com/office/officeart/2018/2/layout/IconVerticalSolidList"/>
    <dgm:cxn modelId="{46BFA6E8-1C4A-4075-9803-1ECB09E6F19E}" type="presParOf" srcId="{CE178622-DAA6-4BC9-9E7C-2ABDCBE4694B}" destId="{A1E7F0AD-AD68-4808-8D57-9D9CB7B13A05}" srcOrd="1" destOrd="0" presId="urn:microsoft.com/office/officeart/2018/2/layout/IconVerticalSolidList"/>
    <dgm:cxn modelId="{306ECFD3-B6BA-4955-8B16-7AA78C2EA764}" type="presParOf" srcId="{CE178622-DAA6-4BC9-9E7C-2ABDCBE4694B}" destId="{791BC714-AA16-4D95-B0E4-593F8CDC3064}" srcOrd="2" destOrd="0" presId="urn:microsoft.com/office/officeart/2018/2/layout/IconVerticalSolidList"/>
    <dgm:cxn modelId="{9DF812FB-D8A7-47CE-88F3-6F9D68373E99}" type="presParOf" srcId="{CE178622-DAA6-4BC9-9E7C-2ABDCBE4694B}" destId="{6903EF8B-5BED-43F8-997E-6FAFD736951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3D65CD-ACE8-4359-B7B7-FDC914CF8748}">
      <dsp:nvSpPr>
        <dsp:cNvPr id="0" name=""/>
        <dsp:cNvSpPr/>
      </dsp:nvSpPr>
      <dsp:spPr>
        <a:xfrm>
          <a:off x="0" y="3581"/>
          <a:ext cx="10506456" cy="7629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CA9D1-EE9C-41B4-AA1D-5032E3FCC7CF}">
      <dsp:nvSpPr>
        <dsp:cNvPr id="0" name=""/>
        <dsp:cNvSpPr/>
      </dsp:nvSpPr>
      <dsp:spPr>
        <a:xfrm>
          <a:off x="230796" y="175248"/>
          <a:ext cx="419630" cy="4196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0A160-654D-4DB7-A55A-020C7721005F}">
      <dsp:nvSpPr>
        <dsp:cNvPr id="0" name=""/>
        <dsp:cNvSpPr/>
      </dsp:nvSpPr>
      <dsp:spPr>
        <a:xfrm>
          <a:off x="881223" y="3581"/>
          <a:ext cx="9625232" cy="762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47" tIns="80747" rIns="80747" bIns="8074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Phase 1: Ignite the Concept (Jan – Mar 2026)  Objective: Finalize product design and build early buzz. Lead Teams: Product Development, Creative Marketing Team, Influencer Relations.</a:t>
          </a:r>
        </a:p>
      </dsp:txBody>
      <dsp:txXfrm>
        <a:off x="881223" y="3581"/>
        <a:ext cx="9625232" cy="762963"/>
      </dsp:txXfrm>
    </dsp:sp>
    <dsp:sp modelId="{0561338E-64C7-4572-9B1D-F3A908A7ABA9}">
      <dsp:nvSpPr>
        <dsp:cNvPr id="0" name=""/>
        <dsp:cNvSpPr/>
      </dsp:nvSpPr>
      <dsp:spPr>
        <a:xfrm>
          <a:off x="0" y="957286"/>
          <a:ext cx="10506456" cy="7629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F0E3BC-7760-4B9D-AA3D-EBDCF36A8FD3}">
      <dsp:nvSpPr>
        <dsp:cNvPr id="0" name=""/>
        <dsp:cNvSpPr/>
      </dsp:nvSpPr>
      <dsp:spPr>
        <a:xfrm>
          <a:off x="230796" y="1128953"/>
          <a:ext cx="419630" cy="4196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C00E6-E77A-46AE-8DC5-17462F3B1C39}">
      <dsp:nvSpPr>
        <dsp:cNvPr id="0" name=""/>
        <dsp:cNvSpPr/>
      </dsp:nvSpPr>
      <dsp:spPr>
        <a:xfrm>
          <a:off x="881223" y="957286"/>
          <a:ext cx="9625232" cy="762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47" tIns="80747" rIns="80747" bIns="8074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Phase 2: Build the Hype (Apr – Jun 2026) Objective: Create anticipation and capture pre-orders. Lead Teams: PR Team, E-commerce Team, Sales Partnerships</a:t>
          </a:r>
        </a:p>
      </dsp:txBody>
      <dsp:txXfrm>
        <a:off x="881223" y="957286"/>
        <a:ext cx="9625232" cy="762963"/>
      </dsp:txXfrm>
    </dsp:sp>
    <dsp:sp modelId="{E6FF6E45-76CF-4A54-B6D7-09D7D94D2D6C}">
      <dsp:nvSpPr>
        <dsp:cNvPr id="0" name=""/>
        <dsp:cNvSpPr/>
      </dsp:nvSpPr>
      <dsp:spPr>
        <a:xfrm>
          <a:off x="0" y="1910991"/>
          <a:ext cx="10506456" cy="7629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557D8-63B7-46A7-8B08-5E8F1427586B}">
      <dsp:nvSpPr>
        <dsp:cNvPr id="0" name=""/>
        <dsp:cNvSpPr/>
      </dsp:nvSpPr>
      <dsp:spPr>
        <a:xfrm>
          <a:off x="230796" y="2082657"/>
          <a:ext cx="419630" cy="4196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E0BDF-4F7D-4AE2-B535-E2FEBBB43A58}">
      <dsp:nvSpPr>
        <dsp:cNvPr id="0" name=""/>
        <dsp:cNvSpPr/>
      </dsp:nvSpPr>
      <dsp:spPr>
        <a:xfrm>
          <a:off x="881223" y="1910991"/>
          <a:ext cx="9625232" cy="762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47" tIns="80747" rIns="80747" bIns="8074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Phase 3: Grand Launch (Jul – Sept 2026) Objective: Official product launch and nationwide rollout.  Lead Teams: PR Team, Event Marketing, Social Media, Retail Merchandising.</a:t>
          </a:r>
        </a:p>
      </dsp:txBody>
      <dsp:txXfrm>
        <a:off x="881223" y="1910991"/>
        <a:ext cx="9625232" cy="762963"/>
      </dsp:txXfrm>
    </dsp:sp>
    <dsp:sp modelId="{A7159966-B7B6-4109-A43E-1B08D3BEE751}">
      <dsp:nvSpPr>
        <dsp:cNvPr id="0" name=""/>
        <dsp:cNvSpPr/>
      </dsp:nvSpPr>
      <dsp:spPr>
        <a:xfrm>
          <a:off x="0" y="2864695"/>
          <a:ext cx="10506456" cy="7629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B8F0A6-CB39-4987-9C8E-7AD48FC8DD6D}">
      <dsp:nvSpPr>
        <dsp:cNvPr id="0" name=""/>
        <dsp:cNvSpPr/>
      </dsp:nvSpPr>
      <dsp:spPr>
        <a:xfrm>
          <a:off x="230796" y="3036362"/>
          <a:ext cx="419630" cy="4196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CFCBF-B5C2-47EC-A1E4-DE1B0D1DAEE2}">
      <dsp:nvSpPr>
        <dsp:cNvPr id="0" name=""/>
        <dsp:cNvSpPr/>
      </dsp:nvSpPr>
      <dsp:spPr>
        <a:xfrm>
          <a:off x="881223" y="2864695"/>
          <a:ext cx="9625232" cy="762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47" tIns="80747" rIns="80747" bIns="8074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Phase 4: Sustain &amp; Scale (Oct – Dec 2026) Objective: Retain momentum and gather feedback. Lead Teams: Customer Insights, Product Design, International Sales.</a:t>
          </a:r>
        </a:p>
      </dsp:txBody>
      <dsp:txXfrm>
        <a:off x="881223" y="2864695"/>
        <a:ext cx="9625232" cy="762963"/>
      </dsp:txXfrm>
    </dsp:sp>
    <dsp:sp modelId="{7E8FCDB7-2BC1-424D-B5D9-9724CD1CCBDE}">
      <dsp:nvSpPr>
        <dsp:cNvPr id="0" name=""/>
        <dsp:cNvSpPr/>
      </dsp:nvSpPr>
      <dsp:spPr>
        <a:xfrm>
          <a:off x="0" y="3818400"/>
          <a:ext cx="10506456" cy="76296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7F0AD-AD68-4808-8D57-9D9CB7B13A05}">
      <dsp:nvSpPr>
        <dsp:cNvPr id="0" name=""/>
        <dsp:cNvSpPr/>
      </dsp:nvSpPr>
      <dsp:spPr>
        <a:xfrm>
          <a:off x="230796" y="3990067"/>
          <a:ext cx="419630" cy="4196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3EF8B-5BED-43F8-997E-6FAFD736951D}">
      <dsp:nvSpPr>
        <dsp:cNvPr id="0" name=""/>
        <dsp:cNvSpPr/>
      </dsp:nvSpPr>
      <dsp:spPr>
        <a:xfrm>
          <a:off x="881223" y="3818400"/>
          <a:ext cx="9625232" cy="762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747" tIns="80747" rIns="80747" bIns="8074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Phase 5: Innovate Forward (Jan 2027+) Objective: Plan future product line and continuous improvement. Lead Teams: Research and Development and User Experience Team</a:t>
          </a:r>
        </a:p>
      </dsp:txBody>
      <dsp:txXfrm>
        <a:off x="881223" y="3818400"/>
        <a:ext cx="9625232" cy="7629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4AE88D-549A-4C3E-AEB8-EC099D48DA34}">
      <dsp:nvSpPr>
        <dsp:cNvPr id="0" name=""/>
        <dsp:cNvSpPr/>
      </dsp:nvSpPr>
      <dsp:spPr>
        <a:xfrm>
          <a:off x="380269" y="1299146"/>
          <a:ext cx="611455" cy="6114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5216D1-EB49-4A65-A42D-8A44DA82127C}">
      <dsp:nvSpPr>
        <dsp:cNvPr id="0" name=""/>
        <dsp:cNvSpPr/>
      </dsp:nvSpPr>
      <dsp:spPr>
        <a:xfrm>
          <a:off x="6602" y="2156676"/>
          <a:ext cx="1358789" cy="64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Product Development: </a:t>
          </a:r>
          <a:r>
            <a:rPr lang="en-US" sz="1100" kern="1200"/>
            <a:t>App development, quality testing, thermoelectric technology integration, and prototype design</a:t>
          </a:r>
          <a:r>
            <a:rPr lang="en-US" sz="1100" kern="1200">
              <a:latin typeface="Aptos Display" panose="020F0302020204030204"/>
            </a:rPr>
            <a:t> = $120,000</a:t>
          </a:r>
          <a:endParaRPr lang="en-US" sz="1100" kern="1200"/>
        </a:p>
      </dsp:txBody>
      <dsp:txXfrm>
        <a:off x="6602" y="2156676"/>
        <a:ext cx="1358789" cy="645424"/>
      </dsp:txXfrm>
    </dsp:sp>
    <dsp:sp modelId="{A142B4DA-79B9-4971-8C3A-67A024532C20}">
      <dsp:nvSpPr>
        <dsp:cNvPr id="0" name=""/>
        <dsp:cNvSpPr/>
      </dsp:nvSpPr>
      <dsp:spPr>
        <a:xfrm>
          <a:off x="1976846" y="1299146"/>
          <a:ext cx="611455" cy="6114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7F1AA-CC36-42BD-875B-E29B93D83388}">
      <dsp:nvSpPr>
        <dsp:cNvPr id="0" name=""/>
        <dsp:cNvSpPr/>
      </dsp:nvSpPr>
      <dsp:spPr>
        <a:xfrm>
          <a:off x="1603179" y="2156676"/>
          <a:ext cx="1358789" cy="64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Manufacturing Setup: </a:t>
          </a:r>
          <a:r>
            <a:rPr lang="en-US" sz="1100" kern="1200"/>
            <a:t>Solar lid development, eco-material sourcing, and tooling</a:t>
          </a:r>
          <a:r>
            <a:rPr lang="en-US" sz="1100" kern="1200">
              <a:latin typeface="Aptos Display" panose="020F0302020204030204"/>
            </a:rPr>
            <a:t> = $80,000</a:t>
          </a:r>
          <a:endParaRPr lang="en-US" sz="1100" kern="1200"/>
        </a:p>
      </dsp:txBody>
      <dsp:txXfrm>
        <a:off x="1603179" y="2156676"/>
        <a:ext cx="1358789" cy="645424"/>
      </dsp:txXfrm>
    </dsp:sp>
    <dsp:sp modelId="{478DAE1E-B4B5-467B-A714-BB543930FF68}">
      <dsp:nvSpPr>
        <dsp:cNvPr id="0" name=""/>
        <dsp:cNvSpPr/>
      </dsp:nvSpPr>
      <dsp:spPr>
        <a:xfrm>
          <a:off x="3573423" y="1299146"/>
          <a:ext cx="611455" cy="6114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E7164E-521D-40B6-A53A-BA6218EBE27B}">
      <dsp:nvSpPr>
        <dsp:cNvPr id="0" name=""/>
        <dsp:cNvSpPr/>
      </dsp:nvSpPr>
      <dsp:spPr>
        <a:xfrm>
          <a:off x="3199756" y="2156676"/>
          <a:ext cx="1358789" cy="64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Packaging Design:</a:t>
          </a:r>
          <a:r>
            <a:rPr lang="en-US" sz="1100" kern="1200"/>
            <a:t> YETI environmental branding and recycled packaging</a:t>
          </a:r>
          <a:r>
            <a:rPr lang="en-US" sz="1100" kern="1200">
              <a:latin typeface="Aptos Display" panose="020F0302020204030204"/>
            </a:rPr>
            <a:t> = $20,000</a:t>
          </a:r>
          <a:endParaRPr lang="en-US" sz="1100" kern="1200"/>
        </a:p>
      </dsp:txBody>
      <dsp:txXfrm>
        <a:off x="3199756" y="2156676"/>
        <a:ext cx="1358789" cy="645424"/>
      </dsp:txXfrm>
    </dsp:sp>
    <dsp:sp modelId="{D820555A-A226-46B7-95D9-F983A6F6F2CA}">
      <dsp:nvSpPr>
        <dsp:cNvPr id="0" name=""/>
        <dsp:cNvSpPr/>
      </dsp:nvSpPr>
      <dsp:spPr>
        <a:xfrm>
          <a:off x="5170000" y="1299146"/>
          <a:ext cx="611455" cy="6114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8BA7C-1EBF-422B-9B63-E8BE22FF2650}">
      <dsp:nvSpPr>
        <dsp:cNvPr id="0" name=""/>
        <dsp:cNvSpPr/>
      </dsp:nvSpPr>
      <dsp:spPr>
        <a:xfrm>
          <a:off x="4796333" y="2156676"/>
          <a:ext cx="1358789" cy="64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Marketing Campaigns:</a:t>
          </a:r>
          <a:r>
            <a:rPr lang="en-US" sz="1100" kern="1200"/>
            <a:t>  Social media ads (TikTok Instagram, </a:t>
          </a:r>
          <a:r>
            <a:rPr lang="en-US" sz="1100" kern="1200">
              <a:latin typeface="Aptos Display" panose="020F0302020204030204"/>
            </a:rPr>
            <a:t>YouTube</a:t>
          </a:r>
          <a:r>
            <a:rPr lang="en-US" sz="1100" kern="1200"/>
            <a:t>)  </a:t>
          </a:r>
          <a:r>
            <a:rPr lang="en-US" sz="1100" kern="1200">
              <a:latin typeface="Aptos Display" panose="020F0302020204030204"/>
            </a:rPr>
            <a:t>influencer  </a:t>
          </a:r>
          <a:r>
            <a:rPr lang="en-US" sz="1100" kern="1200"/>
            <a:t>partnerships , and PR events</a:t>
          </a:r>
          <a:r>
            <a:rPr lang="en-US" sz="1100" kern="1200">
              <a:latin typeface="Aptos Display" panose="020F0302020204030204"/>
            </a:rPr>
            <a:t> =  $70,000</a:t>
          </a:r>
          <a:endParaRPr lang="en-US" sz="1100" kern="1200"/>
        </a:p>
      </dsp:txBody>
      <dsp:txXfrm>
        <a:off x="4796333" y="2156676"/>
        <a:ext cx="1358789" cy="645424"/>
      </dsp:txXfrm>
    </dsp:sp>
    <dsp:sp modelId="{CFB1A6C5-2E87-4E68-8382-70DD6DF4D1B6}">
      <dsp:nvSpPr>
        <dsp:cNvPr id="0" name=""/>
        <dsp:cNvSpPr/>
      </dsp:nvSpPr>
      <dsp:spPr>
        <a:xfrm>
          <a:off x="6766577" y="1299146"/>
          <a:ext cx="611455" cy="6114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2966B-2935-4C76-A610-75904AB62DED}">
      <dsp:nvSpPr>
        <dsp:cNvPr id="0" name=""/>
        <dsp:cNvSpPr/>
      </dsp:nvSpPr>
      <dsp:spPr>
        <a:xfrm>
          <a:off x="6392910" y="2156676"/>
          <a:ext cx="1358789" cy="64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Sales Promotions:  </a:t>
          </a:r>
          <a:r>
            <a:rPr lang="en-US" sz="1100" kern="1200"/>
            <a:t>Setup of loyalty programs, YETI package promotions, and launch discounts</a:t>
          </a:r>
          <a:r>
            <a:rPr lang="en-US" sz="1100" kern="1200">
              <a:latin typeface="Aptos Display" panose="020F0302020204030204"/>
            </a:rPr>
            <a:t> =  $25,000</a:t>
          </a:r>
          <a:endParaRPr lang="en-US" sz="1100" kern="1200"/>
        </a:p>
      </dsp:txBody>
      <dsp:txXfrm>
        <a:off x="6392910" y="2156676"/>
        <a:ext cx="1358789" cy="645424"/>
      </dsp:txXfrm>
    </dsp:sp>
    <dsp:sp modelId="{61EC77AF-F5AB-451F-B73F-470642602271}">
      <dsp:nvSpPr>
        <dsp:cNvPr id="0" name=""/>
        <dsp:cNvSpPr/>
      </dsp:nvSpPr>
      <dsp:spPr>
        <a:xfrm>
          <a:off x="8363154" y="1299146"/>
          <a:ext cx="611455" cy="6114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5971D-F371-40FB-A300-F5E3AEFD93DD}">
      <dsp:nvSpPr>
        <dsp:cNvPr id="0" name=""/>
        <dsp:cNvSpPr/>
      </dsp:nvSpPr>
      <dsp:spPr>
        <a:xfrm>
          <a:off x="7989487" y="2156676"/>
          <a:ext cx="1358789" cy="64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Distributions &amp; Logistics:</a:t>
          </a:r>
          <a:r>
            <a:rPr lang="en-US" sz="1100" kern="1200"/>
            <a:t>  Shipping, warehousing, and retailing collaborations</a:t>
          </a:r>
          <a:r>
            <a:rPr lang="en-US" sz="1100" kern="1200">
              <a:latin typeface="Aptos Display" panose="020F0302020204030204"/>
            </a:rPr>
            <a:t> = $30,000</a:t>
          </a:r>
          <a:endParaRPr lang="en-US" sz="1100" kern="1200"/>
        </a:p>
      </dsp:txBody>
      <dsp:txXfrm>
        <a:off x="7989487" y="2156676"/>
        <a:ext cx="1358789" cy="645424"/>
      </dsp:txXfrm>
    </dsp:sp>
    <dsp:sp modelId="{BDDC3DE9-92E9-4C38-A73D-43E77C6EE15C}">
      <dsp:nvSpPr>
        <dsp:cNvPr id="0" name=""/>
        <dsp:cNvSpPr/>
      </dsp:nvSpPr>
      <dsp:spPr>
        <a:xfrm>
          <a:off x="9959731" y="1299146"/>
          <a:ext cx="611455" cy="61145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DAFA6-001F-44D4-A9DD-C14910A0A6C7}">
      <dsp:nvSpPr>
        <dsp:cNvPr id="0" name=""/>
        <dsp:cNvSpPr/>
      </dsp:nvSpPr>
      <dsp:spPr>
        <a:xfrm>
          <a:off x="9586064" y="2156676"/>
          <a:ext cx="1358789" cy="64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Contingency Reserve (10%):</a:t>
          </a:r>
          <a:r>
            <a:rPr lang="en-US" sz="1100" kern="1200"/>
            <a:t>  Covers unforeseen costs or changes in prices</a:t>
          </a:r>
          <a:r>
            <a:rPr lang="en-US" sz="1100" kern="1200">
              <a:latin typeface="Aptos Display" panose="020F0302020204030204"/>
            </a:rPr>
            <a:t> = $34,500</a:t>
          </a:r>
          <a:endParaRPr lang="en-US" sz="1100" kern="1200"/>
        </a:p>
      </dsp:txBody>
      <dsp:txXfrm>
        <a:off x="9586064" y="2156676"/>
        <a:ext cx="1358789" cy="6454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3D65CD-ACE8-4359-B7B7-FDC914CF8748}">
      <dsp:nvSpPr>
        <dsp:cNvPr id="0" name=""/>
        <dsp:cNvSpPr/>
      </dsp:nvSpPr>
      <dsp:spPr>
        <a:xfrm>
          <a:off x="0" y="3347"/>
          <a:ext cx="10508898" cy="71311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CA9D1-EE9C-41B4-AA1D-5032E3FCC7CF}">
      <dsp:nvSpPr>
        <dsp:cNvPr id="0" name=""/>
        <dsp:cNvSpPr/>
      </dsp:nvSpPr>
      <dsp:spPr>
        <a:xfrm>
          <a:off x="215715" y="163797"/>
          <a:ext cx="392210" cy="39221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40A160-654D-4DB7-A55A-020C7721005F}">
      <dsp:nvSpPr>
        <dsp:cNvPr id="0" name=""/>
        <dsp:cNvSpPr/>
      </dsp:nvSpPr>
      <dsp:spPr>
        <a:xfrm>
          <a:off x="823642" y="3347"/>
          <a:ext cx="9685255" cy="71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71" tIns="75471" rIns="75471" bIns="7547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0F0302020204030204"/>
            </a:rPr>
            <a:t>Sales &amp; Revenue: Revenue-per-unit, revenue-per-customer</a:t>
          </a:r>
        </a:p>
      </dsp:txBody>
      <dsp:txXfrm>
        <a:off x="823642" y="3347"/>
        <a:ext cx="9685255" cy="713110"/>
      </dsp:txXfrm>
    </dsp:sp>
    <dsp:sp modelId="{0738B941-BE73-486B-98FC-4ED2F0DE92F6}">
      <dsp:nvSpPr>
        <dsp:cNvPr id="0" name=""/>
        <dsp:cNvSpPr/>
      </dsp:nvSpPr>
      <dsp:spPr>
        <a:xfrm>
          <a:off x="0" y="894735"/>
          <a:ext cx="10508898" cy="71311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8DE92-5072-433D-B092-9C6D7195A98B}">
      <dsp:nvSpPr>
        <dsp:cNvPr id="0" name=""/>
        <dsp:cNvSpPr/>
      </dsp:nvSpPr>
      <dsp:spPr>
        <a:xfrm>
          <a:off x="215715" y="1055185"/>
          <a:ext cx="392210" cy="39221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87EDE-8982-46AE-B5A4-1EC3F967B393}">
      <dsp:nvSpPr>
        <dsp:cNvPr id="0" name=""/>
        <dsp:cNvSpPr/>
      </dsp:nvSpPr>
      <dsp:spPr>
        <a:xfrm>
          <a:off x="823642" y="894735"/>
          <a:ext cx="9685255" cy="71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71" tIns="75471" rIns="75471" bIns="7547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"/>
            </a:rPr>
            <a:t>Social Media Engagement: </a:t>
          </a:r>
          <a:r>
            <a:rPr lang="en-US" sz="1800" kern="1200"/>
            <a:t>Likes, shares, and hashtags on social </a:t>
          </a:r>
          <a:r>
            <a:rPr lang="en-US" sz="1800" kern="1200">
              <a:latin typeface="Aptos Display" panose="020F0302020204030204"/>
            </a:rPr>
            <a:t>media, Viewer-engagement</a:t>
          </a:r>
          <a:r>
            <a:rPr lang="en-US" sz="1800" kern="1200"/>
            <a:t> ratios (views-likes, views-followers, etc</a:t>
          </a:r>
          <a:r>
            <a:rPr lang="en-US" sz="1800" kern="1200">
              <a:latin typeface="Aptos Display" panose="020F0302020204030204"/>
            </a:rPr>
            <a:t>.), link</a:t>
          </a:r>
          <a:r>
            <a:rPr lang="en-US" sz="1800" kern="1200"/>
            <a:t> </a:t>
          </a:r>
          <a:r>
            <a:rPr lang="en-US" sz="1800" kern="1200">
              <a:latin typeface="Aptos Display" panose="020F0302020204030204"/>
            </a:rPr>
            <a:t>in bio clicks</a:t>
          </a:r>
          <a:endParaRPr lang="en-US" sz="1800" kern="1200"/>
        </a:p>
      </dsp:txBody>
      <dsp:txXfrm>
        <a:off x="823642" y="894735"/>
        <a:ext cx="9685255" cy="713110"/>
      </dsp:txXfrm>
    </dsp:sp>
    <dsp:sp modelId="{E6FF6E45-76CF-4A54-B6D7-09D7D94D2D6C}">
      <dsp:nvSpPr>
        <dsp:cNvPr id="0" name=""/>
        <dsp:cNvSpPr/>
      </dsp:nvSpPr>
      <dsp:spPr>
        <a:xfrm>
          <a:off x="0" y="1786122"/>
          <a:ext cx="10508898" cy="71311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0557D8-63B7-46A7-8B08-5E8F1427586B}">
      <dsp:nvSpPr>
        <dsp:cNvPr id="0" name=""/>
        <dsp:cNvSpPr/>
      </dsp:nvSpPr>
      <dsp:spPr>
        <a:xfrm>
          <a:off x="215715" y="1946572"/>
          <a:ext cx="392210" cy="39221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E0BDF-4F7D-4AE2-B535-E2FEBBB43A58}">
      <dsp:nvSpPr>
        <dsp:cNvPr id="0" name=""/>
        <dsp:cNvSpPr/>
      </dsp:nvSpPr>
      <dsp:spPr>
        <a:xfrm>
          <a:off x="823642" y="1786122"/>
          <a:ext cx="9685255" cy="71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71" tIns="75471" rIns="75471" bIns="7547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Website &amp; E-Commerce:</a:t>
          </a:r>
          <a:r>
            <a:rPr lang="en-US" sz="1800" kern="1200">
              <a:latin typeface="Aptos Display" panose="020F0302020204030204"/>
            </a:rPr>
            <a:t> </a:t>
          </a:r>
          <a:r>
            <a:rPr lang="en-US" sz="1800" kern="1200"/>
            <a:t>Daily traffic, conversion rates, and pre-order signups</a:t>
          </a:r>
          <a:r>
            <a:rPr lang="en-US" sz="1800" kern="1200">
              <a:latin typeface="Aptos Display" panose="020F0302020204030204"/>
            </a:rPr>
            <a:t>, email open and click-through rates</a:t>
          </a:r>
          <a:endParaRPr lang="en-US" sz="1800" kern="1200"/>
        </a:p>
      </dsp:txBody>
      <dsp:txXfrm>
        <a:off x="823642" y="1786122"/>
        <a:ext cx="9685255" cy="713110"/>
      </dsp:txXfrm>
    </dsp:sp>
    <dsp:sp modelId="{33006FD7-ADAA-4B64-8D2B-967C145FC4F0}">
      <dsp:nvSpPr>
        <dsp:cNvPr id="0" name=""/>
        <dsp:cNvSpPr/>
      </dsp:nvSpPr>
      <dsp:spPr>
        <a:xfrm>
          <a:off x="0" y="2677510"/>
          <a:ext cx="10508898" cy="71311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60B8DD-B3B9-4726-BF36-66BA2B417384}">
      <dsp:nvSpPr>
        <dsp:cNvPr id="0" name=""/>
        <dsp:cNvSpPr/>
      </dsp:nvSpPr>
      <dsp:spPr>
        <a:xfrm>
          <a:off x="215715" y="2837960"/>
          <a:ext cx="392210" cy="39221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4C542-173E-4DD4-84B6-6EA0E8174A71}">
      <dsp:nvSpPr>
        <dsp:cNvPr id="0" name=""/>
        <dsp:cNvSpPr/>
      </dsp:nvSpPr>
      <dsp:spPr>
        <a:xfrm>
          <a:off x="823642" y="2677510"/>
          <a:ext cx="9685255" cy="71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71" tIns="75471" rIns="75471" bIns="7547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Customer Satisfaction</a:t>
          </a:r>
          <a:r>
            <a:rPr lang="en-US" sz="1800" kern="1200">
              <a:latin typeface="Aptos Display" panose="020F0302020204030204"/>
            </a:rPr>
            <a:t>: Track repeat purchases, expansive feedback through satisfaction surveys, loyalty program usage rates</a:t>
          </a:r>
          <a:endParaRPr lang="en-US" sz="1800" kern="1200"/>
        </a:p>
      </dsp:txBody>
      <dsp:txXfrm>
        <a:off x="823642" y="2677510"/>
        <a:ext cx="9685255" cy="713110"/>
      </dsp:txXfrm>
    </dsp:sp>
    <dsp:sp modelId="{7E8FCDB7-2BC1-424D-B5D9-9724CD1CCBDE}">
      <dsp:nvSpPr>
        <dsp:cNvPr id="0" name=""/>
        <dsp:cNvSpPr/>
      </dsp:nvSpPr>
      <dsp:spPr>
        <a:xfrm>
          <a:off x="0" y="3568898"/>
          <a:ext cx="10508898" cy="71311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7F0AD-AD68-4808-8D57-9D9CB7B13A05}">
      <dsp:nvSpPr>
        <dsp:cNvPr id="0" name=""/>
        <dsp:cNvSpPr/>
      </dsp:nvSpPr>
      <dsp:spPr>
        <a:xfrm>
          <a:off x="215715" y="3729347"/>
          <a:ext cx="392210" cy="39221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03EF8B-5BED-43F8-997E-6FAFD736951D}">
      <dsp:nvSpPr>
        <dsp:cNvPr id="0" name=""/>
        <dsp:cNvSpPr/>
      </dsp:nvSpPr>
      <dsp:spPr>
        <a:xfrm>
          <a:off x="823642" y="3568898"/>
          <a:ext cx="9685255" cy="713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471" tIns="75471" rIns="75471" bIns="7547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Aptos Display" panose="020F0302020204030204"/>
            </a:rPr>
            <a:t>ROI &amp; Channel Impact: Calculate ROMI of marketing efforts to find the most effective marketing plans</a:t>
          </a:r>
          <a:endParaRPr lang="en-US" sz="1800" kern="1200"/>
        </a:p>
      </dsp:txBody>
      <dsp:txXfrm>
        <a:off x="823642" y="3568898"/>
        <a:ext cx="9685255" cy="713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4DB7A-AE1C-4BCE-B03B-17786007EFB6}" type="datetimeFigureOut"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3AB75-2E5A-4166-9377-8ABABFCA021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7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3AB75-2E5A-4166-9377-8ABABFCA021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41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6C622-1D26-59D4-8C54-B75942E2C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AA5FA-DE3C-EC37-A202-064ED9B40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3CA15-D7B2-3ADA-8CFA-21367510B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5D4D2-E63E-8165-CA48-FD19627B9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3AB75-2E5A-4166-9377-8ABABFCA02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84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3AB75-2E5A-4166-9377-8ABABFCA02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27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3AB75-2E5A-4166-9377-8ABABFCA0218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09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3AB75-2E5A-4166-9377-8ABABFCA0218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41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microsoft.com/office/2018/10/relationships/comments" Target="../comments/modernComment_102_56F6F2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8_789B333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09_BDC038A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container with two empty cups&#10;&#10;AI-generated content may be incorrect.">
            <a:extLst>
              <a:ext uri="{FF2B5EF4-FFF2-40B4-BE49-F238E27FC236}">
                <a16:creationId xmlns:a16="http://schemas.microsoft.com/office/drawing/2014/main" id="{11516060-7345-543D-1293-662BEA3E59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82" b="-1"/>
          <a:stretch>
            <a:fillRect/>
          </a:stretch>
        </p:blipFill>
        <p:spPr>
          <a:xfrm>
            <a:off x="3104249" y="10"/>
            <a:ext cx="966964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>
                <a:latin typeface="Trade Gothic Next Heavy" panose="020F0502020204030204" pitchFamily="34" charset="0"/>
                <a:cs typeface="Times New Roman" panose="02020603050405020304" pitchFamily="18" charset="0"/>
              </a:rPr>
              <a:t>YETI TempBox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500">
                <a:latin typeface="Trade Gothic Next Heavy" panose="020B0903040303020004" pitchFamily="34" charset="0"/>
                <a:cs typeface="Times New Roman" panose="02020603050405020304" pitchFamily="18" charset="0"/>
              </a:rPr>
              <a:t>Group 1: Isabella Lomelo, Timothy Bang, Ving Dang, Naithan Desruisseaux, Isabelle Lyu, Daniel Paley, Amelia Youssef, Areeb Mahmood, Tyler Emken, Thomas Martin, Olivia Pirog, Florina Gola, Devin Goldstein</a:t>
            </a:r>
            <a:endParaRPr lang="en-US" sz="1500">
              <a:highlight>
                <a:srgbClr val="FFFF00"/>
              </a:highlight>
              <a:latin typeface="Trade Gothic Next Heavy" panose="020B09030403030200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A560DF5-3D93-18DF-4717-0B78A8D3BA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14236" y="18472"/>
            <a:ext cx="10287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B77EC3-0C3D-C235-D6EA-CB0CBDCC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6852"/>
            <a:ext cx="6864927" cy="1325563"/>
          </a:xfrm>
        </p:spPr>
        <p:txBody>
          <a:bodyPr>
            <a:normAutofit/>
          </a:bodyPr>
          <a:lstStyle/>
          <a:p>
            <a:r>
              <a:rPr lang="en-US">
                <a:latin typeface="Trade Gothic Next Heavy" panose="020B0903040303020004" pitchFamily="34" charset="0"/>
              </a:rPr>
              <a:t>The Smart Temperature-Controlled Lunchbox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20EA3-24CE-7283-B4BB-AD5426FFF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2488"/>
            <a:ext cx="6587836" cy="432391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>
                <a:solidFill>
                  <a:srgbClr val="273540"/>
                </a:solidFill>
                <a:ea typeface="+mn-lt"/>
                <a:cs typeface="+mn-lt"/>
              </a:rPr>
              <a:t>Product Concept:</a:t>
            </a:r>
          </a:p>
          <a:p>
            <a:pPr>
              <a:lnSpc>
                <a:spcPct val="120000"/>
              </a:lnSpc>
            </a:pPr>
            <a:r>
              <a:rPr lang="en-US" sz="1700">
                <a:solidFill>
                  <a:srgbClr val="273540"/>
                </a:solidFill>
                <a:ea typeface="+mn-lt"/>
                <a:cs typeface="+mn-lt"/>
              </a:rPr>
              <a:t>Innovative upgrade to traditional insulated lunchboxes</a:t>
            </a:r>
          </a:p>
          <a:p>
            <a:pPr>
              <a:lnSpc>
                <a:spcPct val="120000"/>
              </a:lnSpc>
            </a:pPr>
            <a:r>
              <a:rPr lang="en-US" sz="1700">
                <a:solidFill>
                  <a:srgbClr val="273540"/>
                </a:solidFill>
                <a:ea typeface="+mn-lt"/>
                <a:cs typeface="+mn-lt"/>
              </a:rPr>
              <a:t>Uses active thermoelectric technology to keep food </a:t>
            </a:r>
            <a:r>
              <a:rPr lang="en-US" sz="1700" i="1">
                <a:solidFill>
                  <a:srgbClr val="273540"/>
                </a:solidFill>
                <a:ea typeface="+mn-lt"/>
                <a:cs typeface="+mn-lt"/>
              </a:rPr>
              <a:t>hot or cold all day</a:t>
            </a:r>
            <a:r>
              <a:rPr lang="en-US" sz="1700">
                <a:solidFill>
                  <a:srgbClr val="273540"/>
                </a:solidFill>
                <a:ea typeface="+mn-lt"/>
                <a:cs typeface="+mn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700">
                <a:solidFill>
                  <a:srgbClr val="273540"/>
                </a:solidFill>
                <a:ea typeface="+mn-lt"/>
                <a:cs typeface="+mn-lt"/>
              </a:rPr>
              <a:t>Controlled through a manual touch screen or a Bluetooth-connected app for temperature settings and alerts</a:t>
            </a:r>
            <a:endParaRPr lang="en-US" sz="900">
              <a:solidFill>
                <a:srgbClr val="273540"/>
              </a:solidFill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800">
                <a:solidFill>
                  <a:srgbClr val="273540"/>
                </a:solidFill>
                <a:ea typeface="+mn-lt"/>
                <a:cs typeface="+mn-lt"/>
              </a:rPr>
              <a:t>Key Features:</a:t>
            </a:r>
          </a:p>
          <a:p>
            <a:pPr>
              <a:lnSpc>
                <a:spcPct val="120000"/>
              </a:lnSpc>
            </a:pPr>
            <a:r>
              <a:rPr lang="en-US" sz="1800">
                <a:solidFill>
                  <a:srgbClr val="273540"/>
                </a:solidFill>
                <a:ea typeface="+mn-lt"/>
                <a:cs typeface="+mn-lt"/>
              </a:rPr>
              <a:t>Heating &amp; Cooling System: maintains precise temperatures                                 (35°F–160°F)</a:t>
            </a:r>
          </a:p>
          <a:p>
            <a:pPr>
              <a:lnSpc>
                <a:spcPct val="120000"/>
              </a:lnSpc>
            </a:pPr>
            <a:r>
              <a:rPr lang="en-US" sz="1800">
                <a:solidFill>
                  <a:srgbClr val="273540"/>
                </a:solidFill>
                <a:ea typeface="+mn-lt"/>
                <a:cs typeface="+mn-lt"/>
              </a:rPr>
              <a:t>Dual-Zone Design: keeps hot and cold foods in separate compartments</a:t>
            </a:r>
          </a:p>
          <a:p>
            <a:pPr>
              <a:lnSpc>
                <a:spcPct val="120000"/>
              </a:lnSpc>
            </a:pPr>
            <a:r>
              <a:rPr lang="en-US" sz="1800">
                <a:solidFill>
                  <a:srgbClr val="273540"/>
                </a:solidFill>
                <a:ea typeface="+mn-lt"/>
                <a:cs typeface="+mn-lt"/>
              </a:rPr>
              <a:t>Smart Connectivity: app control, battery monitor, and ready-to-eat     notifications</a:t>
            </a:r>
          </a:p>
          <a:p>
            <a:pPr>
              <a:lnSpc>
                <a:spcPct val="120000"/>
              </a:lnSpc>
            </a:pPr>
            <a:r>
              <a:rPr lang="en-US" sz="1800">
                <a:solidFill>
                  <a:srgbClr val="273540"/>
                </a:solidFill>
                <a:ea typeface="+mn-lt"/>
                <a:cs typeface="+mn-lt"/>
              </a:rPr>
              <a:t>Eco-Friendly Materials: recycled stainless steel and optional solar              charging lid</a:t>
            </a:r>
          </a:p>
          <a:p>
            <a:pPr>
              <a:lnSpc>
                <a:spcPct val="120000"/>
              </a:lnSpc>
            </a:pPr>
            <a:r>
              <a:rPr lang="en-US" sz="1800">
                <a:solidFill>
                  <a:srgbClr val="273540"/>
                </a:solidFill>
                <a:ea typeface="+mn-lt"/>
                <a:cs typeface="+mn-lt"/>
              </a:rPr>
              <a:t>Rugged &amp; Leak-Proof: built tough for work, school, or outdoor use</a:t>
            </a:r>
          </a:p>
          <a:p>
            <a:pPr>
              <a:lnSpc>
                <a:spcPct val="120000"/>
              </a:lnSpc>
            </a:pPr>
            <a:endParaRPr lang="en-US" sz="1700">
              <a:solidFill>
                <a:srgbClr val="27354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700">
              <a:solidFill>
                <a:srgbClr val="2735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184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8F9EFD-1D68-9F7A-E19C-DC7883FD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F90786E-B72D-4C32-BDCE-A170B0078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46F2E7-848F-4A6C-A098-4764FDEA7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food in a container&#10;&#10;AI-generated content may be incorrect.">
            <a:extLst>
              <a:ext uri="{FF2B5EF4-FFF2-40B4-BE49-F238E27FC236}">
                <a16:creationId xmlns:a16="http://schemas.microsoft.com/office/drawing/2014/main" id="{E4C9AA09-AD43-722B-F7F3-79EE1DC110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148" b="14582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F99B06-E02E-0FE9-3C50-DEF411C32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71570"/>
            <a:ext cx="5155261" cy="4072044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rade Gothic Next Heavy" panose="020B0903040303020004" pitchFamily="34" charset="0"/>
              </a:rPr>
              <a:t>Why TempBox?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350F4-DC2F-EEB3-DC04-68B752B4D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5986" y="1671566"/>
            <a:ext cx="5170861" cy="4072043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Traditional lunchboxes only slow temperature change, but the TempBox actively maintains ideal temperatures, going beyond just insulation.</a:t>
            </a:r>
          </a:p>
          <a:p>
            <a:pPr marL="0" indent="0">
              <a:buNone/>
            </a:pPr>
            <a:endParaRPr lang="en-US" sz="2000">
              <a:solidFill>
                <a:srgbClr val="FFFFFF"/>
              </a:solidFill>
            </a:endParaRPr>
          </a:p>
          <a:p>
            <a:r>
              <a:rPr lang="en-US" sz="2000">
                <a:solidFill>
                  <a:srgbClr val="FFFFFF"/>
                </a:solidFill>
              </a:rPr>
              <a:t>Improvement on Existing Product: Smart, dual-temperature upgrade to classic lunchboxes.</a:t>
            </a:r>
          </a:p>
          <a:p>
            <a:r>
              <a:rPr lang="en-US" sz="2000">
                <a:solidFill>
                  <a:srgbClr val="FFFFFF"/>
                </a:solidFill>
              </a:rPr>
              <a:t>Smart Technology Integration: Bluetooth app + precision temperature sensors.</a:t>
            </a:r>
          </a:p>
          <a:p>
            <a:r>
              <a:rPr lang="en-US" sz="2000">
                <a:solidFill>
                  <a:srgbClr val="FFFFFF"/>
                </a:solidFill>
              </a:rPr>
              <a:t>Sustainability Focus: Eco materials, reusable battery, optional solar charging.</a:t>
            </a:r>
          </a:p>
        </p:txBody>
      </p:sp>
      <p:sp>
        <p:nvSpPr>
          <p:cNvPr id="6" name="AutoShape 5" descr="Generated image">
            <a:extLst>
              <a:ext uri="{FF2B5EF4-FFF2-40B4-BE49-F238E27FC236}">
                <a16:creationId xmlns:a16="http://schemas.microsoft.com/office/drawing/2014/main" id="{39D61AD5-0A55-6869-CC68-1E8E811911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818914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4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395E5-BF9A-D688-D749-74A57DAD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117"/>
            <a:ext cx="10515600" cy="1325563"/>
          </a:xfrm>
        </p:spPr>
        <p:txBody>
          <a:bodyPr/>
          <a:lstStyle/>
          <a:p>
            <a:r>
              <a:rPr lang="en-US">
                <a:latin typeface="Trade Gothic Next Heavy" panose="020B0903040303020004" pitchFamily="34" charset="0"/>
              </a:rPr>
              <a:t>Market Research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5671-CF3F-35A0-A76E-FBFB196A4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3389" cy="4842804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endParaRPr lang="en-US" sz="1200" b="1">
              <a:solidFill>
                <a:srgbClr val="273540"/>
              </a:solidFill>
            </a:endParaRPr>
          </a:p>
          <a:p>
            <a:pPr marL="457200" lvl="1" indent="0">
              <a:buNone/>
            </a:pPr>
            <a:r>
              <a:rPr lang="en-US" b="1" u="sng">
                <a:ea typeface="+mn-lt"/>
                <a:cs typeface="+mn-lt"/>
              </a:rPr>
              <a:t>Target Consumers: 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/>
              <a:t>Students and workers that bring lunch to work, and want to keep food cold/warm all day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/>
              <a:t>Outdoor users who want durable products to keep food lasting </a:t>
            </a:r>
          </a:p>
          <a:p>
            <a:pPr marL="457200" lvl="1" indent="0">
              <a:buNone/>
            </a:pPr>
            <a:r>
              <a:rPr lang="en-US" b="1" u="sng"/>
              <a:t>Market Needs: </a:t>
            </a:r>
            <a:endParaRPr lang="en-US" b="1" u="sng">
              <a:solidFill>
                <a:srgbClr val="000000"/>
              </a:solidFill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/>
              <a:t>Durability, temperature control, high-quality, convenience, style  </a:t>
            </a:r>
          </a:p>
          <a:p>
            <a:pPr marL="457200" lvl="1" indent="0">
              <a:buNone/>
            </a:pPr>
            <a:endParaRPr lang="en-US" b="1" u="sng"/>
          </a:p>
          <a:p>
            <a:pPr marL="457200" lvl="1" indent="0">
              <a:buNone/>
            </a:pPr>
            <a:r>
              <a:rPr lang="en-US" b="1" u="sng"/>
              <a:t>Potential Competitors: 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Stanley, Hydro Flask, Igloo, Thermos </a:t>
            </a:r>
          </a:p>
          <a:p>
            <a:pPr marL="457200" lvl="1" indent="0">
              <a:buNone/>
            </a:pPr>
            <a:endParaRPr lang="en-US" b="1" u="sng">
              <a:solidFill>
                <a:srgbClr val="000000"/>
              </a:solidFill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b="1" u="sng">
                <a:solidFill>
                  <a:srgbClr val="000000"/>
                </a:solidFill>
                <a:ea typeface="+mn-lt"/>
                <a:cs typeface="+mn-lt"/>
              </a:rPr>
              <a:t>Market Trends: 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The market for reusable and insulated products, such as cups + containers, is continuously growing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400"/>
              <a:t>Customers are looking for sustainable products that last </a:t>
            </a:r>
          </a:p>
          <a:p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DBE03-53A4-61A8-45D0-8E66373B9469}"/>
              </a:ext>
            </a:extLst>
          </p:cNvPr>
          <p:cNvSpPr txBox="1"/>
          <p:nvPr/>
        </p:nvSpPr>
        <p:spPr>
          <a:xfrm>
            <a:off x="6311589" y="1897004"/>
            <a:ext cx="5635083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b="1" u="sng">
                <a:solidFill>
                  <a:srgbClr val="000000"/>
                </a:solidFill>
                <a:ea typeface="+mn-lt"/>
                <a:cs typeface="+mn-lt"/>
              </a:rPr>
              <a:t>Consumer Demographics: 54% Male, 46% Female 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Largest age group: 25-34 years old, but YETI is popular across all age groups 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Income/Class: Middle/Upper class 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rgbClr val="000000"/>
                </a:solidFill>
                <a:ea typeface="+mn-lt"/>
                <a:cs typeface="+mn-lt"/>
              </a:rPr>
              <a:t>Lifestyle: Consumers are active + outdoorsy, valuing premium-quality products, they can count on</a:t>
            </a:r>
          </a:p>
          <a:p>
            <a:pPr marL="457200" lvl="1" indent="0">
              <a:buNone/>
            </a:pPr>
            <a:r>
              <a:rPr lang="en-US" sz="2000" b="1" u="sng">
                <a:solidFill>
                  <a:srgbClr val="000000"/>
                </a:solidFill>
                <a:ea typeface="+mn-lt"/>
                <a:cs typeface="+mn-lt"/>
              </a:rPr>
              <a:t>Buying Behavior 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en-US" sz="2000">
                <a:solidFill>
                  <a:srgbClr val="000000"/>
                </a:solidFill>
              </a:rPr>
              <a:t>Brand loyalty + Emotional connection, Positive brand image, Product innovation, Quality over price </a:t>
            </a:r>
          </a:p>
        </p:txBody>
      </p:sp>
      <p:pic>
        <p:nvPicPr>
          <p:cNvPr id="12" name="Graphic 11" descr="Group with solid fill">
            <a:extLst>
              <a:ext uri="{FF2B5EF4-FFF2-40B4-BE49-F238E27FC236}">
                <a16:creationId xmlns:a16="http://schemas.microsoft.com/office/drawing/2014/main" id="{62A8870F-0CFA-8AE0-90C4-2FD2E40421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657" y="2431199"/>
            <a:ext cx="735012" cy="735012"/>
          </a:xfrm>
          <a:prstGeom prst="rect">
            <a:avLst/>
          </a:prstGeom>
        </p:spPr>
      </p:pic>
      <p:pic>
        <p:nvPicPr>
          <p:cNvPr id="16" name="Graphic 15" descr="List with solid fill">
            <a:extLst>
              <a:ext uri="{FF2B5EF4-FFF2-40B4-BE49-F238E27FC236}">
                <a16:creationId xmlns:a16="http://schemas.microsoft.com/office/drawing/2014/main" id="{E151A607-60F1-2489-E7A7-D8010A2260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657" y="3621243"/>
            <a:ext cx="735012" cy="735012"/>
          </a:xfrm>
          <a:prstGeom prst="rect">
            <a:avLst/>
          </a:prstGeom>
        </p:spPr>
      </p:pic>
      <p:pic>
        <p:nvPicPr>
          <p:cNvPr id="18" name="Graphic 17" descr="Upward trend with solid fill">
            <a:extLst>
              <a:ext uri="{FF2B5EF4-FFF2-40B4-BE49-F238E27FC236}">
                <a16:creationId xmlns:a16="http://schemas.microsoft.com/office/drawing/2014/main" id="{5C2FCB65-F09D-A36A-6133-9CFE4876C6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9657" y="5622926"/>
            <a:ext cx="735012" cy="735012"/>
          </a:xfrm>
          <a:prstGeom prst="rect">
            <a:avLst/>
          </a:prstGeom>
        </p:spPr>
      </p:pic>
      <p:pic>
        <p:nvPicPr>
          <p:cNvPr id="20" name="Graphic 19" descr="Flying Money with solid fill">
            <a:extLst>
              <a:ext uri="{FF2B5EF4-FFF2-40B4-BE49-F238E27FC236}">
                <a16:creationId xmlns:a16="http://schemas.microsoft.com/office/drawing/2014/main" id="{7AE5D73B-44F8-C0CD-4B28-0EECB3823B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1809" y="4986300"/>
            <a:ext cx="706245" cy="706245"/>
          </a:xfrm>
          <a:prstGeom prst="rect">
            <a:avLst/>
          </a:prstGeom>
        </p:spPr>
      </p:pic>
      <p:pic>
        <p:nvPicPr>
          <p:cNvPr id="22" name="Graphic 21" descr="Presentation with pie chart with solid fill">
            <a:extLst>
              <a:ext uri="{FF2B5EF4-FFF2-40B4-BE49-F238E27FC236}">
                <a16:creationId xmlns:a16="http://schemas.microsoft.com/office/drawing/2014/main" id="{F094672F-F843-BD2B-1200-1D5EA18C94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5897" y="2706843"/>
            <a:ext cx="722157" cy="722157"/>
          </a:xfrm>
          <a:prstGeom prst="rect">
            <a:avLst/>
          </a:prstGeom>
        </p:spPr>
      </p:pic>
      <p:pic>
        <p:nvPicPr>
          <p:cNvPr id="26" name="Graphic 25" descr="Forest scene with solid fill">
            <a:extLst>
              <a:ext uri="{FF2B5EF4-FFF2-40B4-BE49-F238E27FC236}">
                <a16:creationId xmlns:a16="http://schemas.microsoft.com/office/drawing/2014/main" id="{7A16A7DB-1B55-1231-5A4C-2B48F5D149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908" y="4545730"/>
            <a:ext cx="735012" cy="73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244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0C22-5623-E6FE-B6F0-18D9ADD6E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rade Gothic Next Heavy" panose="020B0903040303020004" pitchFamily="34" charset="0"/>
              </a:rPr>
              <a:t>SWOT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9748D-C4A7-0E87-3D31-1B24714C8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954"/>
            <a:ext cx="471662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Strengths:</a:t>
            </a:r>
            <a:endParaRPr lang="en-US" sz="2000"/>
          </a:p>
          <a:p>
            <a:pPr lvl="1"/>
            <a:r>
              <a:rPr lang="en-US" sz="1700">
                <a:ea typeface="+mn-lt"/>
                <a:cs typeface="+mn-lt"/>
              </a:rPr>
              <a:t>Strong brand reputation for quality and durability</a:t>
            </a:r>
            <a:endParaRPr lang="en-US" sz="1700"/>
          </a:p>
          <a:p>
            <a:pPr lvl="1"/>
            <a:r>
              <a:rPr lang="en-US" sz="1700">
                <a:ea typeface="+mn-lt"/>
                <a:cs typeface="+mn-lt"/>
              </a:rPr>
              <a:t>Unique temperature-control technology that sets it apart from competitors</a:t>
            </a:r>
            <a:endParaRPr lang="en-US" sz="1700"/>
          </a:p>
          <a:p>
            <a:pPr lvl="1"/>
            <a:r>
              <a:rPr lang="en-US" sz="1700">
                <a:ea typeface="+mn-lt"/>
                <a:cs typeface="+mn-lt"/>
              </a:rPr>
              <a:t>Loyal customer base that values premium, long-lasting products</a:t>
            </a:r>
            <a:endParaRPr lang="en-US" sz="1700"/>
          </a:p>
          <a:p>
            <a:r>
              <a:rPr lang="en-US" sz="2000" b="1">
                <a:ea typeface="+mn-lt"/>
                <a:cs typeface="+mn-lt"/>
              </a:rPr>
              <a:t>Weaknesses:</a:t>
            </a:r>
            <a:endParaRPr lang="en-US" sz="2000"/>
          </a:p>
          <a:p>
            <a:pPr lvl="1"/>
            <a:r>
              <a:rPr lang="en-US" sz="1700">
                <a:ea typeface="+mn-lt"/>
                <a:cs typeface="+mn-lt"/>
              </a:rPr>
              <a:t>High price point may limit appeal to budget-conscious buyers</a:t>
            </a:r>
            <a:endParaRPr lang="en-US" sz="1700"/>
          </a:p>
          <a:p>
            <a:pPr lvl="1"/>
            <a:r>
              <a:rPr lang="en-US" sz="1700">
                <a:ea typeface="+mn-lt"/>
                <a:cs typeface="+mn-lt"/>
              </a:rPr>
              <a:t>Added tech components could affect portability or ease of use</a:t>
            </a:r>
            <a:endParaRPr lang="en-US" sz="1700"/>
          </a:p>
          <a:p>
            <a:pPr lvl="1"/>
            <a:r>
              <a:rPr lang="en-US" sz="1700">
                <a:ea typeface="+mn-lt"/>
                <a:cs typeface="+mn-lt"/>
              </a:rPr>
              <a:t>Limited experience in producing smart or tech-based products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F509AA-7018-CAF1-6162-9E68D9F8B4E1}"/>
              </a:ext>
            </a:extLst>
          </p:cNvPr>
          <p:cNvSpPr txBox="1">
            <a:spLocks/>
          </p:cNvSpPr>
          <p:nvPr/>
        </p:nvSpPr>
        <p:spPr>
          <a:xfrm>
            <a:off x="6096000" y="1690688"/>
            <a:ext cx="497010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ea typeface="+mn-lt"/>
                <a:cs typeface="+mn-lt"/>
              </a:rPr>
              <a:t>Opportunities:</a:t>
            </a:r>
            <a:endParaRPr lang="en-US" sz="2000"/>
          </a:p>
          <a:p>
            <a:pPr lvl="1"/>
            <a:r>
              <a:rPr lang="en-US" sz="1700">
                <a:ea typeface="+mn-lt"/>
                <a:cs typeface="+mn-lt"/>
              </a:rPr>
              <a:t>Growing demand for sustainable and reusable food storage solutions</a:t>
            </a:r>
          </a:p>
          <a:p>
            <a:pPr lvl="1"/>
            <a:r>
              <a:rPr lang="en-US" sz="1700">
                <a:ea typeface="+mn-lt"/>
                <a:cs typeface="+mn-lt"/>
              </a:rPr>
              <a:t>Expanding market for tech-integrated lifestyle products</a:t>
            </a:r>
          </a:p>
          <a:p>
            <a:pPr lvl="1"/>
            <a:r>
              <a:rPr lang="en-US" sz="1700">
                <a:ea typeface="+mn-lt"/>
                <a:cs typeface="+mn-lt"/>
              </a:rPr>
              <a:t>Potential for collaborations with influencers and outdoor or food-focused brands</a:t>
            </a:r>
          </a:p>
          <a:p>
            <a:r>
              <a:rPr lang="en-US" sz="2000" b="1">
                <a:ea typeface="+mn-lt"/>
                <a:cs typeface="+mn-lt"/>
              </a:rPr>
              <a:t>Threats:</a:t>
            </a:r>
            <a:endParaRPr lang="en-US" sz="2000"/>
          </a:p>
          <a:p>
            <a:pPr lvl="1"/>
            <a:r>
              <a:rPr lang="en-US" sz="1700">
                <a:ea typeface="+mn-lt"/>
                <a:cs typeface="+mn-lt"/>
              </a:rPr>
              <a:t>Competition from established brands like Stanley and Hydro Flask</a:t>
            </a:r>
          </a:p>
          <a:p>
            <a:pPr lvl="1"/>
            <a:r>
              <a:rPr lang="en-US" sz="1700">
                <a:ea typeface="+mn-lt"/>
                <a:cs typeface="+mn-lt"/>
              </a:rPr>
              <a:t>Risk of cheaper alternatives entering the market with similar features</a:t>
            </a:r>
          </a:p>
          <a:p>
            <a:pPr lvl="1"/>
            <a:r>
              <a:rPr lang="en-US" sz="1700">
                <a:ea typeface="+mn-lt"/>
                <a:cs typeface="+mn-lt"/>
              </a:rPr>
              <a:t>Possible consumer hesitation toward paying more for a “smart” lunch box without proven reliability</a:t>
            </a:r>
          </a:p>
        </p:txBody>
      </p:sp>
    </p:spTree>
    <p:extLst>
      <p:ext uri="{BB962C8B-B14F-4D97-AF65-F5344CB8AC3E}">
        <p14:creationId xmlns:p14="http://schemas.microsoft.com/office/powerpoint/2010/main" val="921967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40E93D9-F13F-4097-A159-E0A6CEBA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7D7962-8B40-EA27-DCDC-2517715D4129}"/>
              </a:ext>
            </a:extLst>
          </p:cNvPr>
          <p:cNvSpPr/>
          <p:nvPr/>
        </p:nvSpPr>
        <p:spPr>
          <a:xfrm>
            <a:off x="4521022" y="581929"/>
            <a:ext cx="7329191" cy="60744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9266F-F2FA-B84F-4DF5-705D0354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16" y="444464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n-US" sz="3800" b="1"/>
              <a:t>Segmentation &amp; Targeting</a:t>
            </a:r>
          </a:p>
        </p:txBody>
      </p:sp>
      <p:pic>
        <p:nvPicPr>
          <p:cNvPr id="4" name="Picture 3" descr="Free Workers Eating Lunch Photo - Workers, Lunch, Construction | Download  at StockCake">
            <a:extLst>
              <a:ext uri="{FF2B5EF4-FFF2-40B4-BE49-F238E27FC236}">
                <a16:creationId xmlns:a16="http://schemas.microsoft.com/office/drawing/2014/main" id="{93548308-2232-26D9-C43C-806B8AA1FC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18" r="3" b="3"/>
          <a:stretch>
            <a:fillRect/>
          </a:stretch>
        </p:blipFill>
        <p:spPr>
          <a:xfrm>
            <a:off x="20" y="2768743"/>
            <a:ext cx="4278264" cy="408925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A3D150B-ADB5-401D-8304-C7845A109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21FFD-6FE9-4E87-E245-6F64DAE17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0710" y="785057"/>
            <a:ext cx="6329157" cy="56701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2400" b="1" u="sng"/>
              <a:t>Target Segments:</a:t>
            </a:r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Demographic:</a:t>
            </a:r>
          </a:p>
          <a:p>
            <a:pPr marL="285750" indent="-285750"/>
            <a:r>
              <a:rPr lang="en-US" sz="1800">
                <a:ea typeface="+mn-lt"/>
                <a:cs typeface="+mn-lt"/>
              </a:rPr>
              <a:t>Age: 10-55 years old </a:t>
            </a:r>
          </a:p>
          <a:p>
            <a:pPr marL="285750" indent="-285750"/>
            <a:r>
              <a:rPr lang="en-US" sz="1800">
                <a:ea typeface="+mn-lt"/>
                <a:cs typeface="+mn-lt"/>
              </a:rPr>
              <a:t>Occupations: Office employees, construction workers, students, nurses, and most other in-person workers</a:t>
            </a:r>
          </a:p>
          <a:p>
            <a:pPr marL="285750" indent="-285750"/>
            <a:r>
              <a:rPr lang="en-US" sz="1800">
                <a:ea typeface="+mn-lt"/>
                <a:cs typeface="+mn-lt"/>
              </a:rPr>
              <a:t>Income: Middle-High income people 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 Psychographic:</a:t>
            </a:r>
            <a:endParaRPr lang="en-US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1.  Value convenience, low cost of homemade food, during busy workdays</a:t>
            </a:r>
            <a:endParaRPr lang="en-US" sz="1800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2. Environmentally conscious and prefer reusable products</a:t>
            </a:r>
            <a:endParaRPr lang="en-US" sz="1800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3. Interested in health and meal prep</a:t>
            </a:r>
            <a:endParaRPr lang="en-US" sz="1800"/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Behavioral:</a:t>
            </a:r>
            <a:endParaRPr lang="en-US" sz="1800"/>
          </a:p>
          <a:p>
            <a:pPr marL="285750" indent="-285750"/>
            <a:r>
              <a:rPr lang="en-US" sz="1800">
                <a:ea typeface="+mn-lt"/>
                <a:cs typeface="+mn-lt"/>
              </a:rPr>
              <a:t>Frequently eat lunch away from home (job sites, offices, campuses)</a:t>
            </a:r>
            <a:endParaRPr lang="en-US" sz="1800"/>
          </a:p>
          <a:p>
            <a:pPr marL="285750" indent="-285750"/>
            <a:r>
              <a:rPr lang="en-US" sz="1800">
                <a:ea typeface="+mn-lt"/>
                <a:cs typeface="+mn-lt"/>
              </a:rPr>
              <a:t>Seek temperature-controlled meals without relying on microwaves or refrigerators</a:t>
            </a:r>
            <a:endParaRPr lang="en-US" sz="1800"/>
          </a:p>
          <a:p>
            <a:pPr marL="285750" indent="-285750"/>
            <a:r>
              <a:rPr lang="en-US" sz="1800"/>
              <a:t>Want the option to have cold or hot food</a:t>
            </a:r>
          </a:p>
          <a:p>
            <a:pPr marL="285750" indent="-285750"/>
            <a:r>
              <a:rPr lang="en-US" sz="1800">
                <a:ea typeface="+mn-lt"/>
                <a:cs typeface="+mn-lt"/>
              </a:rPr>
              <a:t>People who are too busy to go out for lunch </a:t>
            </a:r>
          </a:p>
          <a:p>
            <a:pPr lvl="1"/>
            <a:endParaRPr lang="en-US" sz="1800"/>
          </a:p>
          <a:p>
            <a:endParaRPr lang="en-US" sz="18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297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9F83A-DA33-7FE1-25F5-0041A407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D50188-D13A-EACB-C259-EAC60CFFA23E}"/>
              </a:ext>
            </a:extLst>
          </p:cNvPr>
          <p:cNvSpPr/>
          <p:nvPr/>
        </p:nvSpPr>
        <p:spPr>
          <a:xfrm>
            <a:off x="511812" y="1091625"/>
            <a:ext cx="11172231" cy="53828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00433E-4D00-5702-B939-BBA190ED4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47" y="74362"/>
            <a:ext cx="10515600" cy="1325563"/>
          </a:xfrm>
        </p:spPr>
        <p:txBody>
          <a:bodyPr/>
          <a:lstStyle/>
          <a:p>
            <a:r>
              <a:rPr lang="en-US" b="1"/>
              <a:t>Positioning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97EAF-9FE0-E6FA-9A13-9A247E94041F}"/>
              </a:ext>
            </a:extLst>
          </p:cNvPr>
          <p:cNvSpPr txBox="1"/>
          <p:nvPr/>
        </p:nvSpPr>
        <p:spPr>
          <a:xfrm>
            <a:off x="1279724" y="1397482"/>
            <a:ext cx="9295309" cy="66479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/>
              <a:t>Why YETI </a:t>
            </a:r>
            <a:r>
              <a:rPr lang="en-US" sz="2200" b="1" err="1"/>
              <a:t>TempBox</a:t>
            </a:r>
            <a:r>
              <a:rPr lang="en-US" sz="2200" b="1"/>
              <a:t>?</a:t>
            </a:r>
            <a:endParaRPr lang="en-US" sz="220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Distinctive:</a:t>
            </a:r>
            <a:r>
              <a:rPr lang="en-US">
                <a:ea typeface="+mn-lt"/>
                <a:cs typeface="+mn-lt"/>
              </a:rPr>
              <a:t> Only lunchbox with </a:t>
            </a:r>
            <a:r>
              <a:rPr lang="en-US"/>
              <a:t>dual-zone heating and cooling</a:t>
            </a:r>
            <a:r>
              <a:rPr lang="en-US">
                <a:ea typeface="+mn-lt"/>
                <a:cs typeface="+mn-lt"/>
              </a:rPr>
              <a:t> technology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Superior:</a:t>
            </a:r>
            <a:r>
              <a:rPr lang="en-US">
                <a:ea typeface="+mn-lt"/>
                <a:cs typeface="+mn-lt"/>
              </a:rPr>
              <a:t> One product does the job of b</a:t>
            </a:r>
            <a:r>
              <a:rPr lang="en-US"/>
              <a:t>oth a heater and cooler</a:t>
            </a:r>
          </a:p>
          <a:p>
            <a:r>
              <a:rPr lang="en-US" b="1"/>
              <a:t>Convenient</a:t>
            </a:r>
            <a:r>
              <a:rPr lang="en-US"/>
              <a:t>: Keeps meals fresh and ready anytime, anywhere</a:t>
            </a:r>
          </a:p>
          <a:p>
            <a:r>
              <a:rPr lang="en-US" b="1">
                <a:ea typeface="+mn-lt"/>
                <a:cs typeface="+mn-lt"/>
              </a:rPr>
              <a:t>Smart Design:</a:t>
            </a:r>
            <a:r>
              <a:rPr lang="en-US">
                <a:ea typeface="+mn-lt"/>
                <a:cs typeface="+mn-lt"/>
              </a:rPr>
              <a:t> Durable, portable</a:t>
            </a:r>
            <a:endParaRPr lang="en-US"/>
          </a:p>
          <a:p>
            <a:endParaRPr lang="en-US"/>
          </a:p>
          <a:p>
            <a:r>
              <a:rPr lang="en-US" sz="2200" b="1"/>
              <a:t>Positioning Strategy</a:t>
            </a:r>
            <a:endParaRPr lang="en-US" sz="2200"/>
          </a:p>
          <a:p>
            <a:pPr marL="285750" indent="-285750">
              <a:buFont typeface="Arial,Sans-Serif"/>
              <a:buChar char="•"/>
            </a:pPr>
            <a:r>
              <a:rPr lang="en-US"/>
              <a:t>More for More</a:t>
            </a:r>
          </a:p>
          <a:p>
            <a:pPr marL="285750" indent="-285750">
              <a:buFont typeface="Arial,Sans-Serif"/>
              <a:buChar char="•"/>
            </a:pPr>
            <a:r>
              <a:rPr lang="en-US"/>
              <a:t>Competitive Advantage: Dual zone heat/cool</a:t>
            </a:r>
          </a:p>
          <a:p>
            <a:pPr marL="285750" indent="-285750">
              <a:buFont typeface="Arial,Sans-Serif"/>
              <a:buChar char="•"/>
            </a:pPr>
            <a:endParaRPr lang="en-US"/>
          </a:p>
          <a:p>
            <a:r>
              <a:rPr lang="en-US" sz="2200" b="1"/>
              <a:t>Positioning Statement</a:t>
            </a:r>
          </a:p>
          <a:p>
            <a:pPr marL="285750" indent="-285750">
              <a:buFont typeface="Arial,Sans-Serif"/>
              <a:buChar char="•"/>
            </a:pPr>
            <a:r>
              <a:rPr lang="en-US"/>
              <a:t>For students and adults aged 10–55 who want fresh, perfectly tempered meals on the go, the YETI </a:t>
            </a:r>
            <a:r>
              <a:rPr lang="en-US" err="1"/>
              <a:t>TempBox</a:t>
            </a:r>
            <a:r>
              <a:rPr lang="en-US"/>
              <a:t> is a dual-compartment lunchbox that keeps one meal hot and another cold all day. Unlike ordinary lunchboxes, it delivers freshness, flexibility, and convenience through advanced temperature control technology, ideal for health-focused and budget-minded lifestyles.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,Sans-Serif"/>
              <a:buChar char="•"/>
            </a:pPr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b="1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043161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616EA26-6957-F2A0-10FF-AB59CDDFF181}"/>
              </a:ext>
            </a:extLst>
          </p:cNvPr>
          <p:cNvSpPr txBox="1">
            <a:spLocks/>
          </p:cNvSpPr>
          <p:nvPr/>
        </p:nvSpPr>
        <p:spPr>
          <a:xfrm>
            <a:off x="6095997" y="3428999"/>
            <a:ext cx="5807674" cy="32119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4823869-63E5-21FA-91A2-BDCE517627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975782"/>
              </p:ext>
            </p:extLst>
          </p:nvPr>
        </p:nvGraphicFramePr>
        <p:xfrm>
          <a:off x="1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41489">
                  <a:extLst>
                    <a:ext uri="{9D8B030D-6E8A-4147-A177-3AD203B41FA5}">
                      <a16:colId xmlns:a16="http://schemas.microsoft.com/office/drawing/2014/main" val="769486038"/>
                    </a:ext>
                  </a:extLst>
                </a:gridCol>
                <a:gridCol w="6150511">
                  <a:extLst>
                    <a:ext uri="{9D8B030D-6E8A-4147-A177-3AD203B41FA5}">
                      <a16:colId xmlns:a16="http://schemas.microsoft.com/office/drawing/2014/main" val="3519319311"/>
                    </a:ext>
                  </a:extLst>
                </a:gridCol>
              </a:tblGrid>
              <a:tr h="3634424">
                <a:tc>
                  <a:txBody>
                    <a:bodyPr/>
                    <a:lstStyle/>
                    <a:p>
                      <a:pPr algn="ctr"/>
                      <a:r>
                        <a:rPr lang="en-US" sz="1600" b="0" u="sng">
                          <a:latin typeface="Trade Gothic Next Heavy"/>
                        </a:rPr>
                        <a:t>Product</a:t>
                      </a:r>
                    </a:p>
                    <a:p>
                      <a:pPr algn="l"/>
                      <a:r>
                        <a:rPr lang="en-US" sz="1600" b="0" u="none"/>
                        <a:t>Features:</a:t>
                      </a:r>
                    </a:p>
                    <a:p>
                      <a:pPr marL="285750" indent="-285750" algn="l">
                        <a:buFont typeface="Aptos" panose="020B0004020202020204" pitchFamily="34" charset="0"/>
                        <a:buChar char="-"/>
                      </a:pPr>
                      <a:r>
                        <a:rPr lang="en-US" sz="1600" b="0" u="none"/>
                        <a:t>Smart technology – temperature-controlled lunch box with dual zones (can be either hot or cold)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u="none"/>
                        <a:t>Built in temperature sensors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u="none"/>
                        <a:t>Rechargeable cooling/warming system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600" b="0" u="none"/>
                        <a:t>Design: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u="none"/>
                        <a:t>Stainless steel accents, durable outer shell, easy clean interior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600" b="0" u="none"/>
                        <a:t>Branding: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u="none"/>
                        <a:t>Premium YETI branding emphasizing performance and sustainability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600" b="0" u="none"/>
                        <a:t>Packaging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u="none"/>
                        <a:t>Eco-friendly packaging made form recycled materials 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u="none"/>
                        <a:t>Represents YETI’s sustainability commitment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u="sng">
                          <a:latin typeface="Trade Gothic Next Heavy"/>
                        </a:rPr>
                        <a:t>Price</a:t>
                      </a:r>
                    </a:p>
                    <a:p>
                      <a:r>
                        <a:rPr lang="en-US" sz="1800" b="0"/>
                        <a:t>Strategy:</a:t>
                      </a:r>
                    </a:p>
                    <a:p>
                      <a:pPr marL="285750" indent="-285750">
                        <a:buFont typeface="Aptos" panose="020B0004020202020204" pitchFamily="34" charset="0"/>
                        <a:buChar char="-"/>
                      </a:pPr>
                      <a:r>
                        <a:rPr lang="en-US" sz="1800" b="0"/>
                        <a:t>Premium pricing — aligns with YETI’s established brand image and target market’s willingness to pay for quality and innovation.</a:t>
                      </a:r>
                    </a:p>
                    <a:p>
                      <a:pPr marL="0" indent="0">
                        <a:buFont typeface="Aptos" panose="020B0004020202020204" pitchFamily="34" charset="0"/>
                        <a:buNone/>
                      </a:pPr>
                      <a:r>
                        <a:rPr lang="en-US" sz="1800" b="0"/>
                        <a:t>Justification: </a:t>
                      </a:r>
                    </a:p>
                    <a:p>
                      <a:pPr marL="285750" indent="-285750">
                        <a:buFont typeface="Aptos" panose="020B0004020202020204" pitchFamily="34" charset="0"/>
                        <a:buChar char="-"/>
                      </a:pPr>
                      <a:r>
                        <a:rPr lang="en-US" sz="1800" b="0"/>
                        <a:t>High-quality materials, advanced insulation technology, and smart features justify a higher price point.</a:t>
                      </a:r>
                    </a:p>
                    <a:p>
                      <a:pPr marL="0" indent="0">
                        <a:buFont typeface="Aptos" panose="020B0004020202020204" pitchFamily="34" charset="0"/>
                        <a:buNone/>
                      </a:pPr>
                      <a:r>
                        <a:rPr lang="en-US" sz="1800" b="0"/>
                        <a:t>Optional Tiers: </a:t>
                      </a:r>
                    </a:p>
                    <a:p>
                      <a:pPr marL="285750" indent="-285750">
                        <a:buFont typeface="Aptos" panose="020B0004020202020204" pitchFamily="34" charset="0"/>
                        <a:buChar char="-"/>
                      </a:pPr>
                      <a:r>
                        <a:rPr lang="en-US" sz="1800" b="0"/>
                        <a:t>Offer multiple models and sizes (Standard, Smart, and Pro editions) to reach a wider audience without diluting brand prestige.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350096"/>
                  </a:ext>
                </a:extLst>
              </a:tr>
              <a:tr h="3223576">
                <a:tc>
                  <a:txBody>
                    <a:bodyPr/>
                    <a:lstStyle/>
                    <a:p>
                      <a:pPr algn="ctr"/>
                      <a:r>
                        <a:rPr lang="en-US" sz="1600" u="sng">
                          <a:latin typeface="Trade Gothic Next Heavy"/>
                        </a:rPr>
                        <a:t>Place</a:t>
                      </a:r>
                    </a:p>
                    <a:p>
                      <a:pPr algn="l"/>
                      <a:r>
                        <a:rPr lang="en-US" sz="1800" u="none"/>
                        <a:t>Distribution channels: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en-US" sz="1800" u="none"/>
                        <a:t>YETI’s official website and flagship stores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en-US" sz="1800" u="none"/>
                        <a:t>Outside retailers (REI, Target, etc.)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n-US" sz="1800" u="none"/>
                        <a:t>Logistics: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en-US" sz="1800" u="none"/>
                        <a:t>Leverage YETI’s pre-existing supply chains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r>
                        <a:rPr lang="en-US" sz="1800" u="none"/>
                        <a:t>Delivery and instore pickup options</a:t>
                      </a:r>
                    </a:p>
                    <a:p>
                      <a:pPr marL="342900" indent="-342900" algn="l">
                        <a:buFontTx/>
                        <a:buChar char="-"/>
                      </a:pPr>
                      <a:endParaRPr lang="en-US" sz="2400" u="non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u="sng">
                          <a:latin typeface="Trade Gothic Next Heavy"/>
                        </a:rPr>
                        <a:t>Promotion</a:t>
                      </a:r>
                    </a:p>
                    <a:p>
                      <a:r>
                        <a:rPr lang="en-US" sz="1400" b="0"/>
                        <a:t>Advertising: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/>
                        <a:t>Campaign across social media (Instagram, YouTube, TikTok)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400" b="0"/>
                        <a:t>Public Relations: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/>
                        <a:t>Partner with sustainability influencers, outdoor adventurers, and food bloggers to promote innovation and eco-focus.</a:t>
                      </a:r>
                    </a:p>
                    <a:p>
                      <a:r>
                        <a:rPr lang="en-US" sz="1400" b="0"/>
                        <a:t>Sales Promotions:</a:t>
                      </a:r>
                    </a:p>
                    <a:p>
                      <a:pPr marL="285750" indent="-285750">
                        <a:buFont typeface="Aptos" panose="020B0004020202020204" pitchFamily="34" charset="0"/>
                        <a:buChar char="-"/>
                      </a:pPr>
                      <a:r>
                        <a:rPr lang="en-US" sz="1400"/>
                        <a:t>Limited-time launch discounts, bundle offers with YETI drinkware, and loyalty rewards for returning customers.</a:t>
                      </a:r>
                    </a:p>
                    <a:p>
                      <a:r>
                        <a:rPr lang="en-US" sz="1400" b="0"/>
                        <a:t>Digital Marketing: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/>
                        <a:t>Targeted ads on Google and social media platforms focusing on convenience, performance, and sustainability.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/>
                        <a:t>Email marketing to YETI subscribers highlighting new product benefits and exclusive early access.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736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061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B1F7B-3854-3417-A73E-1936BDD84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rade Gothic Next Heavy" panose="020B0903040303020004" pitchFamily="34" charset="0"/>
                <a:ea typeface="+mj-lt"/>
                <a:cs typeface="+mj-lt"/>
              </a:rPr>
              <a:t>Digital Marketing Strategy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C7BDF-75BA-03BA-6E95-2DF7D5D8D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500" b="1" u="sng">
                <a:ea typeface="+mn-lt"/>
                <a:cs typeface="+mn-lt"/>
              </a:rPr>
              <a:t>Social Media Strategy:</a:t>
            </a:r>
            <a:endParaRPr lang="en-US" sz="1500" b="1" u="sng"/>
          </a:p>
          <a:p>
            <a:pPr marL="0" indent="0">
              <a:buNone/>
            </a:pPr>
            <a:r>
              <a:rPr lang="en-US" sz="1500">
                <a:ea typeface="+mn-lt"/>
                <a:cs typeface="+mn-lt"/>
              </a:rPr>
              <a:t>Platforms: Instagram, TikTok, YouTube</a:t>
            </a:r>
            <a:endParaRPr lang="en-US" sz="1500"/>
          </a:p>
          <a:p>
            <a:pPr marL="0" indent="0">
              <a:buNone/>
            </a:pPr>
            <a:r>
              <a:rPr lang="en-US" sz="1500">
                <a:ea typeface="+mn-lt"/>
                <a:cs typeface="+mn-lt"/>
              </a:rPr>
              <a:t> #YETITempBox #FreshnessFlex #MicrowaveDropout</a:t>
            </a:r>
          </a:p>
          <a:p>
            <a:pPr marL="0" indent="0">
              <a:buNone/>
            </a:pPr>
            <a:r>
              <a:rPr lang="en-US" sz="1500">
                <a:ea typeface="+mn-lt"/>
                <a:cs typeface="+mn-lt"/>
              </a:rPr>
              <a:t>Strategy: Showcase “before and after” lunch transformations and lifestyle reels of Yeti users</a:t>
            </a:r>
            <a:endParaRPr lang="en-US" sz="1500"/>
          </a:p>
          <a:p>
            <a:pPr marL="0" indent="0">
              <a:buNone/>
            </a:pPr>
            <a:r>
              <a:rPr lang="en-US" sz="1500" b="1" u="sng">
                <a:ea typeface="+mn-lt"/>
                <a:cs typeface="+mn-lt"/>
              </a:rPr>
              <a:t>Content Marketing:</a:t>
            </a:r>
            <a:endParaRPr lang="en-US" sz="1500" b="1" u="sng"/>
          </a:p>
          <a:p>
            <a:pPr marL="0" indent="0">
              <a:buNone/>
            </a:pPr>
            <a:r>
              <a:rPr lang="en-US" sz="1500">
                <a:ea typeface="+mn-lt"/>
                <a:cs typeface="+mn-lt"/>
              </a:rPr>
              <a:t>Blog posts on meal freshness, tech innovation, and sustainable eating.</a:t>
            </a:r>
          </a:p>
          <a:p>
            <a:pPr marL="0" indent="0">
              <a:buNone/>
            </a:pPr>
            <a:r>
              <a:rPr lang="en-US" sz="1500" b="1" u="sng">
                <a:ea typeface="+mn-lt"/>
                <a:cs typeface="+mn-lt"/>
              </a:rPr>
              <a:t>Email Marketing:</a:t>
            </a:r>
            <a:endParaRPr lang="en-US" sz="1500" b="1" u="sng"/>
          </a:p>
          <a:p>
            <a:pPr marL="0" indent="0">
              <a:buNone/>
            </a:pPr>
            <a:r>
              <a:rPr lang="en-US" sz="1500">
                <a:ea typeface="+mn-lt"/>
                <a:cs typeface="+mn-lt"/>
              </a:rPr>
              <a:t>Announce pre-orders, exclusive offers, loyalty rewards for existing YETI subscribers.</a:t>
            </a:r>
            <a:endParaRPr lang="en-US" sz="1500"/>
          </a:p>
          <a:p>
            <a:pPr marL="0" indent="0">
              <a:buNone/>
            </a:pPr>
            <a:r>
              <a:rPr lang="en-US" sz="1500" b="1" u="sng">
                <a:ea typeface="+mn-lt"/>
                <a:cs typeface="+mn-lt"/>
              </a:rPr>
              <a:t>SEO Keywords</a:t>
            </a:r>
            <a:r>
              <a:rPr lang="en-US" sz="1500">
                <a:ea typeface="+mn-lt"/>
                <a:cs typeface="+mn-lt"/>
              </a:rPr>
              <a:t>: “smart lunch box,” “heated YETI,” “temperature-controlled YETI,” “portable food tech.”</a:t>
            </a:r>
            <a:endParaRPr lang="en-US" sz="1500"/>
          </a:p>
          <a:p>
            <a:pPr marL="0" indent="0">
              <a:buNone/>
            </a:pPr>
            <a:r>
              <a:rPr lang="en-US" sz="1500" b="1" u="sng">
                <a:ea typeface="+mn-lt"/>
                <a:cs typeface="+mn-lt"/>
              </a:rPr>
              <a:t>Influencer Collabs</a:t>
            </a:r>
            <a:r>
              <a:rPr lang="en-US" sz="1500">
                <a:ea typeface="+mn-lt"/>
                <a:cs typeface="+mn-lt"/>
              </a:rPr>
              <a:t>: Outdoor enthusiasts, tech reviewers, and food prep influencers.</a:t>
            </a:r>
            <a:endParaRPr lang="en-US" sz="150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371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338E0-0952-0965-B4AB-F59BF12F6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>
                <a:latin typeface="Trade Gothic Next Heavy" panose="020B0903040303020004" pitchFamily="34" charset="0"/>
                <a:ea typeface="+mj-lt"/>
                <a:cs typeface="+mj-lt"/>
              </a:rPr>
              <a:t>Implementation Plan </a:t>
            </a:r>
            <a:endParaRPr lang="en-US" b="1">
              <a:latin typeface="Trade Gothic Next Heavy" panose="020B0903040303020004" pitchFamily="34" charset="0"/>
              <a:ea typeface="+mj-lt"/>
              <a:cs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EC27C2A2-2AF9-B305-939C-E5EA09A32E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7819805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834912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8CE41-3C2E-1105-6254-6183E5F43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Budget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B1090-02AB-0D7B-8DF4-7966E06CC6E7}"/>
              </a:ext>
            </a:extLst>
          </p:cNvPr>
          <p:cNvSpPr txBox="1"/>
          <p:nvPr/>
        </p:nvSpPr>
        <p:spPr>
          <a:xfrm>
            <a:off x="366232" y="1488557"/>
            <a:ext cx="3376581" cy="51745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19590D90-C5F6-32DD-768C-75F70F62C6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847814"/>
              </p:ext>
            </p:extLst>
          </p:nvPr>
        </p:nvGraphicFramePr>
        <p:xfrm>
          <a:off x="632242" y="1577998"/>
          <a:ext cx="10951456" cy="4101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61" name="TextBox 1860">
            <a:extLst>
              <a:ext uri="{FF2B5EF4-FFF2-40B4-BE49-F238E27FC236}">
                <a16:creationId xmlns:a16="http://schemas.microsoft.com/office/drawing/2014/main" id="{C72FE328-4BB2-8FA6-463B-68DE5066C534}"/>
              </a:ext>
            </a:extLst>
          </p:cNvPr>
          <p:cNvSpPr txBox="1"/>
          <p:nvPr/>
        </p:nvSpPr>
        <p:spPr>
          <a:xfrm>
            <a:off x="502093" y="5676604"/>
            <a:ext cx="110814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Aptos Display"/>
              </a:rPr>
              <a:t>Total estimated launch budget: $379,500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162047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53AB-CE0D-71F6-222E-5B37E4D76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875"/>
            <a:ext cx="10515600" cy="1325563"/>
          </a:xfrm>
        </p:spPr>
        <p:txBody>
          <a:bodyPr/>
          <a:lstStyle/>
          <a:p>
            <a:r>
              <a:rPr lang="en-US">
                <a:latin typeface="Trade Gothic Next Heavy" panose="020B0903040303020004" pitchFamily="34" charset="0"/>
              </a:rPr>
              <a:t>Evaluation and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79D19-37D8-856D-6374-EC48B27EA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567"/>
            <a:ext cx="10515600" cy="8576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/>
              <a:t>Purpose: To measure the success and effectiveness of the YETI Smart Lunch Box's marketing plan as well as reception to the product. </a:t>
            </a:r>
            <a:endParaRPr lang="en-US" b="1"/>
          </a:p>
          <a:p>
            <a:pPr marL="0" indent="0">
              <a:buNone/>
            </a:pPr>
            <a:endParaRPr lang="en-US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B5CB30-6ACD-06E2-A5B7-640DA8BAA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5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8A333CB8-EF82-3D01-D0C3-8AB79D2858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227219"/>
              </p:ext>
            </p:extLst>
          </p:nvPr>
        </p:nvGraphicFramePr>
        <p:xfrm>
          <a:off x="846341" y="2231492"/>
          <a:ext cx="10508898" cy="4285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268" name="Rectangle 3267">
            <a:extLst>
              <a:ext uri="{FF2B5EF4-FFF2-40B4-BE49-F238E27FC236}">
                <a16:creationId xmlns:a16="http://schemas.microsoft.com/office/drawing/2014/main" id="{F6E08759-910B-79D0-D0F4-68C273F66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6794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1477</Words>
  <Application>Microsoft Office PowerPoint</Application>
  <PresentationFormat>Widescreen</PresentationFormat>
  <Paragraphs>163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Arial,Sans-Serif</vt:lpstr>
      <vt:lpstr>Aptos</vt:lpstr>
      <vt:lpstr>Aptos Display</vt:lpstr>
      <vt:lpstr>Arial</vt:lpstr>
      <vt:lpstr>Calibri</vt:lpstr>
      <vt:lpstr>Trade Gothic Next Heavy</vt:lpstr>
      <vt:lpstr>Wingdings</vt:lpstr>
      <vt:lpstr>office theme</vt:lpstr>
      <vt:lpstr>YETI TempBox</vt:lpstr>
      <vt:lpstr>The Smart Temperature-Controlled Lunchbox</vt:lpstr>
      <vt:lpstr>Why TempBox?</vt:lpstr>
      <vt:lpstr>Market Research </vt:lpstr>
      <vt:lpstr>SWOT Analysis</vt:lpstr>
      <vt:lpstr>Segmentation &amp; Targeting</vt:lpstr>
      <vt:lpstr>Positioning</vt:lpstr>
      <vt:lpstr>PowerPoint Presentation</vt:lpstr>
      <vt:lpstr>Digital Marketing Strategy</vt:lpstr>
      <vt:lpstr>Implementation Plan </vt:lpstr>
      <vt:lpstr>Budget</vt:lpstr>
      <vt:lpstr>Evaluation and Metrics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TimB</dc:creator>
  <cp:lastModifiedBy>Tim Bang</cp:lastModifiedBy>
  <cp:revision>2</cp:revision>
  <dcterms:created xsi:type="dcterms:W3CDTF">2025-10-22T16:17:00Z</dcterms:created>
  <dcterms:modified xsi:type="dcterms:W3CDTF">2026-09-22T22:08:17Z</dcterms:modified>
</cp:coreProperties>
</file>